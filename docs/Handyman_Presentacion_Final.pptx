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el proyecto en una frase: Handyman resuelve la desconfianza al contratar a un trabajador para la casa. El QR lleva a la plataforma en línea.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Contar la historia en primera persona, sin leer. Pausa después de "la fuga vuelve". Luego: "Por eso creamos Handyman".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integrante aportó tres ideas en la fase de idear y cinco entrevistas en empatizar; en testear, cada uno grabó tres entrevistas.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Recorrido del proyecto. Mencionar que el Lean Canvas resume en una página todo lo validado en las fases anteriores.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Formato del planificador de ABR del curso. Empatizar y Definir corresponden a Investigar; Idear, Prototipar y Testear a Actuar; la iteración y este pitch a Reflexionar.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Fase I: elección del reto y datos de la empresa base. Confirmar con el equipo la categoría del reto elegida en la entrega de la Fase 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Departamento de Guatemala: unos 3 millones de habitantes en el Censo 2018, con alrededor de 4 personas por hogar en zona urbana. 75 % y 1.5 trabajos al año salen de nuestra encuesta (76.2 % contrató 1 o 2). Q 1,000 por trabajo: el 47.6 % pagó entre Q 500 y Q 1,500.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mapa de empatía (qué ve, oye, piensa y siente, dice y hace, esfuerzos y resultados) guió las preguntas. Muestreo por conveniencia; las 7 personas que no contrataron nada en el año no respondieron las preguntas de la 1 a la 21.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mercado no tiene alternativa digital: todo es boca a boca. La desconfianza tiene dos caras: quién entra a mi casa y si el trabajo quedará bien.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Estas citas muestran que el problema no es teórico: ya les pasó y lo resolvieron pagando de nuevo.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necesidad más relevante es la 1: la certeza de que el trabajo quedará bien hecho. Las necesidades 2 y 3 son la forma de lograrlo: verificar quién es y respaldar el resultado.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necesidades: trabajo bien hecho, saber a quién se abre la puerta, respaldo si sale mal, claridad de precio y cumplimiento de tiempo. P1 gana en los cuatro criterios, y además es donde Artefacto Creativo aporta su experiencia en obra.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Pregunta "¿Cómo podríamos…?" con la estructura vista en clase. Descartamos dos alternativas: verificar profesionales (es P2, un medio) y respaldar después del daño (la gente quiere que quede bien desde el inicio).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14 primeras salieron de SCAMPER y las 4 últimas de Pensar PO, provocando supuestos: que el cliente escoge, que se paga por trabajo, que el trabajador debe ir, que la empresa paga la garantía.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ganadoras se parecen: casi todas son reglas o formas de mostrar información, no tecnología cara. Por eso son viables para empezar.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otras cuatro ganadoras (cotización por foto, calificación doble, diagnóstico previo y videollamada) se dejaron para la segunda versión; parte de ellas ya se incorporó en la versión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Cliente: quien tiene el problema y paga. Usuario profesional: quien recibe los trabajos y cede una comisión. Handyman: quien da la confianza (verificación, pago retenido, soporte y garantía).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Prototipo funcional en línea las 24 horas. Cuentas demo con contraseña Handyman2026 para probar cada rol.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integrante grabó tres entrevistas. Las respuestas abiertas se agruparon en categorías.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Juan Pablo Castillo sugirió que, si no hay profesional disponible, la página no diga solo "no hay", porque el cliente se va. Eso originó el carril de urgencias.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A: chat previo y de la orden. B: cada caso tiene número, agente, tiempo de respuesta y un acuerdo que ambas partes aceptan. C: emergencia en un toque, visita a precio fijo y el primer profesional disponible llega con hora estimada. D: tutorial, ayuda contextual y dictado por voz. E: botón Llamar en órdenes activas y a la línea de Handyman.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✔ sí lo ofrece · ~ a veces o depende de la persona · ✘ no lo ofrece. Con el volumen, la red local de profesionales y los datos de precios reales también se vuelven difíciles de copiar.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Recorrer los bloques en el orden sugerido: problema, clientes, propuesta de valor, solución, canales, ingresos, costos, métricas y ventaja especial.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precio de cada trabajo lo pone el profesional en su cotización, y el cliente ve un rango orientativo del estimador para saber si es justo. Lo que Handyman cobra está explicado en las tres tarjetas.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Agente a medio tiempo: salario mínimo no agrícola 2026 de la circunscripción 1 (Q 4,252.28 con bonificación), a la mitad, más IGSS patronal y prestaciones. Pasarela: tarifa de Recurrente para tarjeta; la transferencia no tiene comisión y el 52.4 % ya paga así, por eso suponemos de forma conservadora que 70 % pagará con tarjeta. En el MVP los pagos son simulados.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Meta: primeros 100 clientes en 2 condominios piloto más referidos. Comparar el costo de adquisición de cada canal con el mismo presupuesto.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panel de administración de la plataforma ya calcula varias de estas métricas: tiempo a la primera cotización, conversión, casos abiertos y tiempos de respuesta.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Responder las preguntas del planificador: ¿Cuál es la solución? ¿Por qué fue efectiva y cómo lo sabes? ¿Qué conocimientos aprendiste? ¿Cómo impactaste a las personas? ¿Cómo te prepara para futuros retos?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con la frase de la clase: "Del 80 % al 95 % de los nuevos productos fracasan porque la empresa se enamoró de su solución, no del problema del cliente". Nosotros empezamos por el problema.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Invitar a escanear el QR y probar el carril de emergencia y el centro de soporte en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943600" cy="5943600"/>
          </a:xfrm>
          <a:prstGeom prst="ellipse">
            <a:avLst/>
          </a:prstGeom>
          <a:solidFill>
            <a:srgbClr val="161F35"/>
          </a:solidFill>
          <a:ln w="12700">
            <a:solidFill>
              <a:srgbClr val="161F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18872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indent="0" marL="0">
              <a:buNone/>
            </a:pPr>
            <a:r>
              <a:rPr lang="en-US" sz="66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731520" y="237744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Profesionales verificados en tu casa, con precio acordado antes de empezar y garantía por escrito.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35204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8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Intraemprendimiento de Artefacto Creativo, S.A. · Proceso de Design Thinking y Lean Canvas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4114800"/>
            <a:ext cx="274320" cy="274320"/>
          </a:xfrm>
          <a:prstGeom prst="ellipse">
            <a:avLst/>
          </a:prstGeom>
          <a:solidFill>
            <a:srgbClr val="E0A100"/>
          </a:solidFill>
          <a:ln w="12700">
            <a:solidFill>
              <a:srgbClr val="E0A1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43000" y="4114800"/>
            <a:ext cx="274320" cy="274320"/>
          </a:xfrm>
          <a:prstGeom prst="ellipse">
            <a:avLst/>
          </a:prstGeom>
          <a:solidFill>
            <a:srgbClr val="7B6FD0"/>
          </a:solidFill>
          <a:ln w="12700">
            <a:solidFill>
              <a:srgbClr val="7B6F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54480" y="4114800"/>
            <a:ext cx="274320" cy="274320"/>
          </a:xfrm>
          <a:prstGeom prst="ellipse">
            <a:avLst/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65960" y="4114800"/>
            <a:ext cx="274320" cy="274320"/>
          </a:xfrm>
          <a:prstGeom prst="ellipse">
            <a:avLst/>
          </a:prstGeom>
          <a:solidFill>
            <a:srgbClr val="1F9E7A"/>
          </a:solidFill>
          <a:ln w="12700">
            <a:solidFill>
              <a:srgbClr val="1F9E7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77440" y="4114800"/>
            <a:ext cx="274320" cy="274320"/>
          </a:xfrm>
          <a:prstGeom prst="ellipse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57607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F99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Empresarial y Fundamentos de Emprendimiento · Mgtr. Mónica Lou de Gutiérrez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F99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Rafael Landívar · Equipo 5 · Octubre de 2026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326880" y="3931920"/>
            <a:ext cx="2194560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Image 0" descr="/Users/Mateo/Developer/.tools/lean/img/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0" y="4069080"/>
            <a:ext cx="1828800" cy="182880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9326880" y="5989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handyman-gt.vercel.app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8229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Domingo, 7 de la noche.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rompe la tubería bajo el lavatrastos. El agua empieza a salir y no sabes a quién llamar.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22960" y="27889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 escribes a tu familia. Alguien te pasa el número de “un maestro de confianza” al que nunca has visto.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22960" y="374904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Llega. Le abres la puerta de tu casa. Cobra lo que dice. Y a las dos semanas, la fuga vuelve.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10515600" cy="1325880"/>
          </a:xfrm>
          <a:prstGeom prst="roundRect">
            <a:avLst>
              <a:gd name="adj" fmla="val 8276"/>
            </a:avLst>
          </a:prstGeom>
          <a:solidFill>
            <a:srgbClr val="161F35"/>
          </a:solidFill>
          <a:ln w="12700">
            <a:solidFill>
              <a:srgbClr val="2532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4937760"/>
            <a:ext cx="10058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D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 no es un caso aislado: al 52.4 % de las personas que encuestamos ya le quedó mal un trabajo, y el 90.5 % solo puede confiar en la recomendación de un conocido.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3252"/>
          </a:solidFill>
          <a:ln w="12700">
            <a:solidFill>
              <a:srgbClr val="2532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532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I · EL RETO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Nuestro equipo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integrantes, cinco fases y una plataforma funcionando en línea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148840"/>
            <a:ext cx="685800" cy="685800"/>
          </a:xfrm>
          <a:prstGeom prst="ellipse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1488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600200" y="217627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Mateo Salguero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00200" y="252374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Carné 1308826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77240" y="29718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Ideas: Sustituir y Combinar (carné QR, cotización por foto). Desarrollo de la plataforma.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97680" y="192024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26280" y="2148840"/>
            <a:ext cx="685800" cy="685800"/>
          </a:xfrm>
          <a:prstGeom prst="ellipse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26280" y="21488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349240" y="217627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Sebastián Aguilar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349240" y="252374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Carné 1245025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26280" y="29718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Ideas: Combinar y Adaptar (calificación doble, garantía escrita).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46720" y="192024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75320" y="2148840"/>
            <a:ext cx="685800" cy="685800"/>
          </a:xfrm>
          <a:prstGeom prst="ellipse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75320" y="21488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098280" y="217627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Alicia Mendoza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098280" y="252374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Carné 1193226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275320" y="29718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Ideas: Modificar, Otro uso y Eliminar (pago retenido, perfil con trabajos).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406908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7240" y="4297680"/>
            <a:ext cx="685800" cy="685800"/>
          </a:xfrm>
          <a:prstGeom prst="ellipse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" y="4297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FF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600200" y="432511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Fabio Franco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600200" y="46725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Carné 1087126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77240" y="51206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Ideas: Reordenar y Pensar PO (diagnóstico previo, Handyman responde).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297680" y="406908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26280" y="4297680"/>
            <a:ext cx="685800" cy="685800"/>
          </a:xfrm>
          <a:prstGeom prst="ellipse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26280" y="4297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SS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5349240" y="432511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Santiago Spillari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5349240" y="46725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Carné 2211125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526280" y="51206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Ideas: Pensar PO (membresía, videollamada, fondo de garantía).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046720" y="406908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275320" y="4297680"/>
            <a:ext cx="685800" cy="685800"/>
          </a:xfrm>
          <a:prstGeom prst="ellipse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75320" y="4297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FS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098280" y="432511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Fernanda Salazar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9098280" y="46725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Carné 1107023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8275320" y="51206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campo y entrevistas de validación del prototipo.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3252"/>
          </a:solidFill>
          <a:ln w="12700">
            <a:solidFill>
              <a:srgbClr val="2532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532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I · EL RETO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Cómo lo construimos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reto al modelo de negocio, siguiendo el proceso de Design Thinking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005840" y="2788920"/>
            <a:ext cx="9681210" cy="0"/>
          </a:xfrm>
          <a:prstGeom prst="line">
            <a:avLst/>
          </a:prstGeom>
          <a:noFill/>
          <a:ln w="38100">
            <a:solidFill>
              <a:srgbClr val="CBD2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377440"/>
            <a:ext cx="822960" cy="822960"/>
          </a:xfrm>
          <a:prstGeom prst="ellipse">
            <a:avLst/>
          </a:prstGeom>
          <a:solidFill>
            <a:srgbClr val="253252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377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I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375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reto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3703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14–20 sep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114550" y="2377440"/>
            <a:ext cx="822960" cy="822960"/>
          </a:xfrm>
          <a:prstGeom prst="ellipse">
            <a:avLst/>
          </a:prstGeom>
          <a:solidFill>
            <a:srgbClr val="E0A100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14550" y="2377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840230" y="33375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Empatizar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840230" y="3703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21–29 sep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497580" y="2377440"/>
            <a:ext cx="822960" cy="822960"/>
          </a:xfrm>
          <a:prstGeom prst="ellipse">
            <a:avLst/>
          </a:prstGeom>
          <a:solidFill>
            <a:srgbClr val="7B6FD0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97580" y="2377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223260" y="33375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Definir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223260" y="3703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sep – 7 oct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880610" y="2377440"/>
            <a:ext cx="822960" cy="822960"/>
          </a:xfrm>
          <a:prstGeom prst="ellipse">
            <a:avLst/>
          </a:prstGeom>
          <a:solidFill>
            <a:srgbClr val="D9578F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80610" y="2377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606290" y="33375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Idear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606290" y="3703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5–12 oct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63640" y="2377440"/>
            <a:ext cx="822960" cy="822960"/>
          </a:xfrm>
          <a:prstGeom prst="ellipse">
            <a:avLst/>
          </a:prstGeom>
          <a:solidFill>
            <a:srgbClr val="1F9E7A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63640" y="2377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989320" y="33375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Prototipar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989320" y="3703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12–19 oct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646670" y="2377440"/>
            <a:ext cx="822960" cy="822960"/>
          </a:xfrm>
          <a:prstGeom prst="ellipse">
            <a:avLst/>
          </a:prstGeom>
          <a:solidFill>
            <a:srgbClr val="E2774A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46670" y="2377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372350" y="33375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Testear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372350" y="3703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12–19 oct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029700" y="2377440"/>
            <a:ext cx="822960" cy="822960"/>
          </a:xfrm>
          <a:prstGeom prst="ellipse">
            <a:avLst/>
          </a:prstGeom>
          <a:solidFill>
            <a:srgbClr val="3154C8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029700" y="2377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↻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8755380" y="33375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Iterar (v2)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8755380" y="3703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19–27 oct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0412730" y="2377440"/>
            <a:ext cx="822960" cy="822960"/>
          </a:xfrm>
          <a:prstGeom prst="ellipse">
            <a:avLst/>
          </a:prstGeom>
          <a:solidFill>
            <a:srgbClr val="0B1020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412730" y="2377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LC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0138410" y="33375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Lean Canvas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10138410" y="3703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20–27 oct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8640" y="457200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22960" y="47091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idea central del proceso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22960" y="50292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empezamos por la app: empezamos por las personas. 28 encuestas nos dijeron qué problema resolver, 18 ideas nos dieron la solución, y 18 entrevistas con el prototipo nos dijeron qué mejorar. Cada fase cambió algo de la anterior.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3252"/>
          </a:solidFill>
          <a:ln w="12700">
            <a:solidFill>
              <a:srgbClr val="2532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532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I · EL RETO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Nuestro plan de Aprendizaje Basado en Retos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cuatro fases del ABR y cómo las recorrimos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2606040" cy="502920"/>
          </a:xfrm>
          <a:prstGeom prst="rect">
            <a:avLst/>
          </a:prstGeom>
          <a:solidFill>
            <a:srgbClr val="E0405A"/>
          </a:solidFill>
          <a:ln w="12700">
            <a:solidFill>
              <a:srgbClr val="E040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8288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CONECTAR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423160"/>
            <a:ext cx="2606040" cy="3977640"/>
          </a:xfrm>
          <a:prstGeom prst="roundRect">
            <a:avLst>
              <a:gd name="adj" fmla="val 4211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560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040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Gran idea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283464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contratar a alguien para la casa sea seguro.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3840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040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Pregunta esencial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411480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podríamos garantizar que un trabajo del hogar quede bien hecho desde la primera vez?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" y="5120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040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Reto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1520" y="539496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con Artefacto Creativo una plataforma de profesionales verificados con garantía.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355848" y="1828800"/>
            <a:ext cx="2606040" cy="502920"/>
          </a:xfrm>
          <a:prstGeom prst="rect">
            <a:avLst/>
          </a:prstGeom>
          <a:solidFill>
            <a:srgbClr val="1FA79A"/>
          </a:solidFill>
          <a:ln w="12700">
            <a:solidFill>
              <a:srgbClr val="1FA79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55848" y="18288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INVESTIGAR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355848" y="2423160"/>
            <a:ext cx="2606040" cy="3977640"/>
          </a:xfrm>
          <a:prstGeom prst="roundRect">
            <a:avLst>
              <a:gd name="adj" fmla="val 4211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38728" y="2560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A7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Preguntas guía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538728" y="283464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¿Quién contrata, cómo lo hace hoy y qué le frustra?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538728" y="3840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A7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Actividades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538728" y="411480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Encuesta con mapa de empatía (28), priorización de problemas, SCAMPER y Pensar PO.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538728" y="5120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A7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Síntesis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538728" y="539496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no es encontrar a alguien, sino saber si lo hará bien.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163056" y="1828800"/>
            <a:ext cx="2606040" cy="502920"/>
          </a:xfrm>
          <a:prstGeom prst="rect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63056" y="18288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ACTUAR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6163056" y="2423160"/>
            <a:ext cx="2606040" cy="3977640"/>
          </a:xfrm>
          <a:prstGeom prst="roundRect">
            <a:avLst>
              <a:gd name="adj" fmla="val 4211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45936" y="2560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2A9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Solución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345936" y="283464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Carné QR, perfil con trabajos, garantía escrita y pago retenido.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345936" y="3840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2A9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Desarrollo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345936" y="411480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Prototipo funcional en handyman-gt.vercel.app, probado por 18 personas.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345936" y="5120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2A9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Implementación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345936" y="539496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Versión 2 con soporte, urgencias y app simple; piloto con condominios.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970264" y="1828800"/>
            <a:ext cx="2606040" cy="502920"/>
          </a:xfrm>
          <a:prstGeom prst="rect">
            <a:avLst/>
          </a:prstGeom>
          <a:solidFill>
            <a:srgbClr val="6B7489"/>
          </a:solidFill>
          <a:ln w="12700">
            <a:solidFill>
              <a:srgbClr val="6B748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970264" y="18288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REFLEXIONAR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8970264" y="2423160"/>
            <a:ext cx="2606040" cy="3977640"/>
          </a:xfrm>
          <a:prstGeom prst="roundRect">
            <a:avLst>
              <a:gd name="adj" fmla="val 4211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53144" y="2560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74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Qué aprendimos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9153144" y="283464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Enamorarnos del problema y dejar que los datos decidan.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9153144" y="3840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74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Impacto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9153144" y="411480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Hogares más seguros y técnicos con más trabajo formal.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9153144" y="5120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74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Futuros retos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9153144" y="539496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con usuarios antes de construir.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3252"/>
          </a:solidFill>
          <a:ln w="12700">
            <a:solidFill>
              <a:srgbClr val="2532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532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I · EL RETO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reto: reinventar cómo se contrata un trabajo para la casa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Intraemprendimiento de Artefacto Creativo, S.A.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011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empresa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2468880"/>
            <a:ext cx="4846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Artefacto Creativo, S.A.: firma con experiencia en diseño y obra en la Ciudad de Guatemala.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Conoce a plomeros, electricistas, albañiles y carpinteros porque ha trabajado con ellos en sus proyectos.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 algo que la competencia no tiene: el criterio técnico para saber si un trabajo quedó bien hecho.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0" y="182880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2011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reto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92240" y="24688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Categoría: Reinventar lo cotidiano. Mejorar con innovación un negocio tradicional: contratar a un maestro, que hoy funciona solo de boca en boca.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92240" y="379476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rgbClr val="D6D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inventamos una necesidad nueva: el 90.5 % ya contrata por recomendación y el 100 % nunca usó una app.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rgbClr val="D6D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 propósito comercial (comisión) e impacto social (formaliza a técnicos independientes), pero el centro es la innovación.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rgbClr val="D6D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financiera planteada: punto de equilibrio con 75 trabajos al mes.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3252"/>
          </a:solidFill>
          <a:ln w="12700">
            <a:solidFill>
              <a:srgbClr val="2532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532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I · EL RETO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Tamaño del mercado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Estimación con el Censo 2018 y nuestra encuesta: cuánto se gasta al año en trabajos para el hogar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965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8C0D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MERCADO TOTAL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22402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≈ Q 840 millones al año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937760" y="1920240"/>
            <a:ext cx="6400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750,000 hogares del departamento de Guatemala × 75 % que contrata al menos un trabajo al año × 1.5 trabajos × Q 1,000 por trabajo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1280160" y="3200400"/>
            <a:ext cx="9601200" cy="1234440"/>
          </a:xfrm>
          <a:prstGeom prst="roundRect">
            <a:avLst>
              <a:gd name="adj" fmla="val 8889"/>
            </a:avLst>
          </a:prstGeom>
          <a:solidFill>
            <a:srgbClr val="3154C8"/>
          </a:solidFill>
          <a:ln w="12700">
            <a:solidFill>
              <a:srgbClr val="3154C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33375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CE4F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MERCADO ALCANZABLE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554480" y="36118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≈ Q 210 millones al año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669280" y="329184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Hogares de nivel medio y medio-alto de la ciudad y municipios cercanos (≈ 25 %), el perfil de nuestras encuestas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2011680" y="4572000"/>
            <a:ext cx="8138160" cy="1234440"/>
          </a:xfrm>
          <a:prstGeom prst="roundRect">
            <a:avLst>
              <a:gd name="adj" fmla="val 8889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86000" y="4709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META DEL PILOTO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286000" y="49834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≈ Q 0.9 millones al año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400800" y="4663440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 trabajos al mes (el punto de equilibrio) = 900 trabajos al año: menos del 0.5 % del mercado alcanzable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no hay un competidor digital consolidado: el 100 % de los encuestados nunca usó una app para esto. Estimación de orden de magnitud, a validar con datos oficiales por municipio.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0A100"/>
          </a:solidFill>
          <a:ln w="12700">
            <a:solidFill>
              <a:srgbClr val="E0A1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A1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1 · EMPATIZAR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Empatizar: ¿quién contrata estos trabajos?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Cuestionario en Google Forms organizado según el mapa de empatía · 28 respuestas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2651760" cy="1600200"/>
          </a:xfrm>
          <a:prstGeom prst="roundRect">
            <a:avLst>
              <a:gd name="adj" fmla="val 6857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9659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0A1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731520" y="26517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respondieron; 21 contrataron un trabajo en el último año (n = 21)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383280" y="1828800"/>
            <a:ext cx="2651760" cy="1600200"/>
          </a:xfrm>
          <a:prstGeom prst="roundRect">
            <a:avLst>
              <a:gd name="adj" fmla="val 6857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66160" y="19659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0A1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60.7 %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3566160" y="26517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 entre 46 y 55 años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17920" y="1828800"/>
            <a:ext cx="2651760" cy="1600200"/>
          </a:xfrm>
          <a:prstGeom prst="roundRect">
            <a:avLst>
              <a:gd name="adj" fmla="val 6857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19659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0A1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82.1 %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6400800" y="26517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vive en casa propia y decide sobre su mantenimiento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052560" y="1828800"/>
            <a:ext cx="2560320" cy="1600200"/>
          </a:xfrm>
          <a:prstGeom prst="roundRect">
            <a:avLst>
              <a:gd name="adj" fmla="val 6857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35440" y="19659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0A1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64.3 %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9235440" y="26517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vive en la Ciudad de Guatemala o Mixco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703320"/>
            <a:ext cx="11064240" cy="2057400"/>
          </a:xfrm>
          <a:prstGeom prst="roundRect">
            <a:avLst>
              <a:gd name="adj" fmla="val 5333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3886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Perfil del cliente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22960" y="425196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Adulto de 30 a 60 años, dueño o inquilino de su vivienda en el área metropolitana de la Ciudad de Guatemala, con ingresos formales (profesionales liberales 32.1 %, comercio 25 %, oficina 17.9 %) y poco tiempo. Es quien decide los arreglos del hogar, contrata 1 o 2 trabajos al año y paga entre Q 500 y Q 1,500 por cada uno. Hoy depende de que un familiar o conocido le recomiende a alguien.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0A100"/>
          </a:solidFill>
          <a:ln w="12700">
            <a:solidFill>
              <a:srgbClr val="E0A1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A1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1 · EMPATIZAR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 que encontramos: la confianza es el problema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del trabajo de campo (n = 21)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96596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0A1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90.5 %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731520" y="265176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contrató su último trabajo por recomendación de un conocido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297680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196596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0A1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100 %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4480560" y="265176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ha usado una app o página web para contratar estos servicios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0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0" y="196596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0A1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57.2 %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8229600" y="265176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siente poco tranquilo (1 o 2 de 5) al dejar entrar a un desconocido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84048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397764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B3261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71.4 %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731520" y="466344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 que lo más frustrante es que el trabajo quede mal hecho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297680" y="384048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80560" y="397764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B3261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52.4 %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4480560" y="466344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vivió un trabajo mal hecho; la salida fue pagar otra vez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046720" y="384048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0" y="397764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B3261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95.2 %</a:t>
            </a:r>
            <a:endParaRPr lang="en-US" sz="3400" dirty="0"/>
          </a:p>
        </p:txBody>
      </p:sp>
      <p:sp>
        <p:nvSpPr>
          <p:cNvPr id="25" name="Text 23"/>
          <p:cNvSpPr/>
          <p:nvPr/>
        </p:nvSpPr>
        <p:spPr>
          <a:xfrm>
            <a:off x="8229600" y="466344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calificó con 5 de 5 que alguien responda si el trabajo sale mal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7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el 80.9 % calificó con 4 o 5 su disposición a usar una app con profesional verificado, precio previo y garantía.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0A100"/>
          </a:solidFill>
          <a:ln w="12700">
            <a:solidFill>
              <a:srgbClr val="E0A1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A1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1 · EMPATIZAR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 que nos contaron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Respuestas abiertas del cuestionario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05740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“Robaron.”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822960" y="32918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B8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salió mal en un trabajo anterior, en una sola palabra.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172200" y="182880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205740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“Llamando a otra persona para que lo arreglara.”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46520" y="32918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resolvieron un trabajo mal hecho: nadie reclamó, pagaron dos veces.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02336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2519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“Contraté un plomero… no lograron resolver el problema. Al final cobraron por no resolverlo.”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" y="54864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mal hecho y cobro igual.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172200" y="402336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46520" y="42519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“No terminaba a tiempo, así que tuve que darle almuerzo y desayuno para que no se fuera a su casa.”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46520" y="54864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dónde llega el cliente para que le terminen.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B6FD0"/>
          </a:solidFill>
          <a:ln w="12700">
            <a:solidFill>
              <a:srgbClr val="7B6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B6F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2 · DEFINIR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Las necesidades del cliente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necesidad sale de un dato del trabajo de campo, no de lo que nosotros creíamos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7B6FD0"/>
          </a:solidFill>
          <a:ln w="12700">
            <a:solidFill>
              <a:srgbClr val="7B6F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828800"/>
            <a:ext cx="457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325880" y="1828800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 el trabajo quede bien hecho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394960" y="1828800"/>
            <a:ext cx="1371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71.4 %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812280" y="1828800"/>
            <a:ext cx="4663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3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 que lo más frustrante es que quede mal; al 52.4 % ya le pasó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2697480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2697480"/>
            <a:ext cx="457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B6F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325880" y="2697480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Saber a quién le abre la puerta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394960" y="2697480"/>
            <a:ext cx="1371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B6F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90.5 %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812280" y="2697480"/>
            <a:ext cx="4663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 de que un conocido le recomiende a alguien; 57.2 % no está tranquilo con un desconocido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566160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F5F6FA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566160"/>
            <a:ext cx="457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B6F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325880" y="3566160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 alguien responda si sale mal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394960" y="3566160"/>
            <a:ext cx="1371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B6F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95.2 %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812280" y="3566160"/>
            <a:ext cx="4663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calificó con 5 de 5 que alguien responda; hoy pagan dos veces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4434840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4434840"/>
            <a:ext cx="457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B6F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325880" y="4434840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Saber cuánto costará antes de empezar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394960" y="4434840"/>
            <a:ext cx="1371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B6F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23.8 %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6812280" y="4434840"/>
            <a:ext cx="4663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eligió el precio fijo; lo que molesta es que cambie a mitad del trabajo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5303520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F5F6FA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5303520"/>
            <a:ext cx="457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B6F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1325880" y="5303520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 terminen a tiempo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5394960" y="5303520"/>
            <a:ext cx="1371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B6F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14.3 %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6812280" y="5303520"/>
            <a:ext cx="4663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señaló como su mayor frustración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48640" y="62179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tienen en común: el cliente no puede saber si el trabajador es bueno antes de contratarlo, ni a quién reclamarle después. Todo el riesgo es suyo.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B6FD0"/>
          </a:solidFill>
          <a:ln w="12700">
            <a:solidFill>
              <a:srgbClr val="7B6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B6F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2 · DEFINIR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Definir: de necesidades a problemas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 + necesidad = problema · priorizados con 4 criterios de 1 a 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120640"/>
                <a:gridCol w="1188720"/>
                <a:gridCol w="1143000"/>
                <a:gridCol w="1005840"/>
                <a:gridCol w="1143000"/>
                <a:gridCol w="91440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6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Problema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6F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Frecuencia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6F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Intensidad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6F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Alcance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6F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Capacidad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6F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Total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6FD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P1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B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puede saber si el trabajador es bueno antes de contratarlo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B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B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B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B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B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B6FD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20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B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P2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 depende de que un conocido le recomiende a alguien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B6FD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19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P3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Nadie responde si sale mal: contrata de palabra y paga dos veces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B6FD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17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P4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hay precio ni alcance claros antes de empezar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B6FD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14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P5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terminan en el tiempo acordado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B6FD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11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53492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Sorpresa: P4 (precio) y P5 (tiempo) quedaron al final. Antes de las encuestas creíamos que serían lo más importante.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B6FD0"/>
          </a:solidFill>
          <a:ln w="12700">
            <a:solidFill>
              <a:srgbClr val="7B6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B6F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2 · DEFINIR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problema que elegimos resolver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Resolver P1 resuelve en parte P2 y P3: para garantizar el trabajo primero hay que verificar quién lo hace y respaldar el resultado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11064240" cy="1783080"/>
          </a:xfrm>
          <a:prstGeom prst="roundRect">
            <a:avLst>
              <a:gd name="adj" fmla="val 6154"/>
            </a:avLst>
          </a:prstGeom>
          <a:solidFill>
            <a:srgbClr val="7B6FD0"/>
          </a:solidFill>
          <a:ln w="12700">
            <a:solidFill>
              <a:srgbClr val="7B6F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011680"/>
            <a:ext cx="10424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¿Cómo podríamos garantizar que un trabajo del hogar quede bien hecho desde la primera vez, para que las familias de la Ciudad de Guatemala dejen de depender de la suerte y de la recomendación de un conocido?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3794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Usamos “garantizar” y no “conectar”: el 90.5 % ya encuentra a alguien por un conocido. El problema no es encontrarlo, es saber si lo hará bien.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43891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Tres supuestos que los datos nos tumbaron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480060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8920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7B6F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0 %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1520" y="544068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eligió “pagar con tarjeta” o “rapidez”. Dejaron de ser diferenciadores: 52.4 % ya paga por transferencia.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297680" y="480060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80560" y="48920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7B6F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≤ 10 %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480560" y="544068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lo máximo extra que pagaría el 61.9 %. La comisión debe salir del margen del profesional, no del cliente.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046720" y="480060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0" y="48920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7B6F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76.2 %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229600" y="544068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contrata solo 1 o 2 trabajos al año. Hay que sumar condominios y oficinas para llegar a 75 trabajos al mes.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3 · IDEAR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Idear: 18 ideas con SCAMPER y Pensar PO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ideas por integrante, aplicadas a cómo se contrata hoy a alguien para la casa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947672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4767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80160" y="1828800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Carné con código QR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97680" y="1828800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89120" y="1947672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0" y="194767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29200" y="1828800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Cotización por foto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046720" y="1828800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38160" y="1947672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38160" y="194767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778240" y="1828800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Revisión de arquitecto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2542032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2660904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2660904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80160" y="2542032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Trabajo + materiales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297680" y="2542032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89120" y="2660904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89120" y="2660904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029200" y="2542032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Calificación doble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46720" y="2542032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38160" y="2660904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138160" y="2660904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778240" y="2542032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Garantía como electrodoméstico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48640" y="3255264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374136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37413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280160" y="3255264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Pago retenido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4297680" y="3255264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89120" y="3374136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89120" y="337413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029200" y="3255264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Perfil con trabajos anteriores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8046720" y="3255264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138160" y="3374136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138160" y="337413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8778240" y="3255264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Contratos con condominios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548640" y="3968496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40080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080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280160" y="3968496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Base de precios para la firma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4297680" y="3968496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389120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389120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029200" y="3968496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Quitar la búsqueda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8046720" y="3968496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138160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138160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8778240" y="3968496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Quitar efectivo y regateo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548640" y="4681728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40080" y="4800600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40080" y="480060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1280160" y="4681728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 Diagnóstico y luego precio firme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4297680" y="4681728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389120" y="4800600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389120" y="480060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5029200" y="4681728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 Hora fija o descuento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8046720" y="4681728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138160" y="4800600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138160" y="480060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8778240" y="4681728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 Que responda Handyman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548640" y="5394960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40080" y="5513832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0080" y="551383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1280160" y="5394960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 Membresía anual de la casa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4297680" y="5394960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4389120" y="5513832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389120" y="551383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5029200" y="5394960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 Diagnóstico por videollamada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8046720" y="5394960"/>
            <a:ext cx="3520440" cy="603504"/>
          </a:xfrm>
          <a:prstGeom prst="roundRect">
            <a:avLst>
              <a:gd name="adj" fmla="val 181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138160" y="5513832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138160" y="551383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</a:t>
            </a:r>
            <a:endParaRPr lang="en-US" sz="1200" dirty="0"/>
          </a:p>
        </p:txBody>
      </p:sp>
      <p:sp>
        <p:nvSpPr>
          <p:cNvPr id="79" name="Text 77"/>
          <p:cNvSpPr/>
          <p:nvPr/>
        </p:nvSpPr>
        <p:spPr>
          <a:xfrm>
            <a:off x="8778240" y="5394960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 Fondo de garantía</a:t>
            </a:r>
            <a:endParaRPr lang="en-US" sz="1300" dirty="0"/>
          </a:p>
        </p:txBody>
      </p:sp>
      <p:sp>
        <p:nvSpPr>
          <p:cNvPr id="80" name="Text 78"/>
          <p:cNvSpPr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SCAMPER: Sustituir · Combinar · Adaptar · Modificar · Poner en otro uso · Eliminar · Reordenar.   Pensar PO: llevar un supuesto a su contrario (¿y si el cliente no escoge al trabajador?).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3 · IDEAR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Matriz de evaluación de ideas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Innovación contra tiempo y dinero necesarios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5394960" cy="2103120"/>
          </a:xfrm>
          <a:prstGeom prst="roundRect">
            <a:avLst>
              <a:gd name="adj" fmla="val 5217"/>
            </a:avLst>
          </a:prstGeom>
          <a:solidFill>
            <a:srgbClr val="E6F5EC"/>
          </a:solidFill>
          <a:ln w="12700">
            <a:solidFill>
              <a:srgbClr val="E6F5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965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733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GANADORAS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77240" y="22860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Innovadoras y fáciles de hacer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77240" y="2606040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Carné con QR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Cotización por foto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Calificación doble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Garantía escrita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291840" y="2606040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Pago retenido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Perfil con trabajos anteriores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 Diagnóstico y luego precio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 Diagnóstico por videollamada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72200" y="1828800"/>
            <a:ext cx="5394960" cy="2103120"/>
          </a:xfrm>
          <a:prstGeom prst="roundRect">
            <a:avLst>
              <a:gd name="adj" fmla="val 5217"/>
            </a:avLst>
          </a:prstGeom>
          <a:solidFill>
            <a:srgbClr val="FBE8F1"/>
          </a:solidFill>
          <a:ln w="12700">
            <a:solidFill>
              <a:srgbClr val="FBE8F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1965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0" y="22860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Innovadoras pero costosas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0" y="2606040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Arquitecto en todos los trabajos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 Que responda Handyman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915400" y="2606040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 Membresía anual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 Fondo de garantía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4069080"/>
            <a:ext cx="5394960" cy="2103120"/>
          </a:xfrm>
          <a:prstGeom prst="roundRect">
            <a:avLst>
              <a:gd name="adj" fmla="val 5217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42062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6B74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PÉRDIDA DE TIEMPO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77240" y="45262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Poco innovadoras y costosas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77240" y="4846320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Vender los materiales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Contratos con condominios*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291840" y="4846320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Base de precios para la firma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Quitar la búsqueda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172200" y="4069080"/>
            <a:ext cx="5394960" cy="2103120"/>
          </a:xfrm>
          <a:prstGeom prst="roundRect">
            <a:avLst>
              <a:gd name="adj" fmla="val 5217"/>
            </a:avLst>
          </a:prstGeom>
          <a:solidFill>
            <a:srgbClr val="FDEBE9"/>
          </a:solidFill>
          <a:ln w="12700">
            <a:solidFill>
              <a:srgbClr val="FDEBE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0" y="42062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BASURA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00800" y="45262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Poco innovadoras y sin respaldo en datos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400800" y="4846320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Quitar el efectivo (52.4 % ya transfiere)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915400" y="4846320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 Descuento si llega tarde (solo 14.3 % lo pidió)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Los contratos con condominios no son malos: no son innovadores, pero sí importantes para el negocio porque dan trabajo constante. Quedan para después.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3 · IDEAR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solución: cuatro pilares de confianza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Elegimos 4 de las 8 ganadoras porque cubren las dos necesidades y se pueden hacer con lo que la firma ya tiene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31520" y="2468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Carné con QR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852928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Saber quién entra a la casa: identidad y antecedentes verificados; el cliente escanea el QR al llegar.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355848" y="182880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8728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538728" y="2468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Perfil con trabajos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538728" y="2852928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Saber si sabe hacerlo: fotos de trabajos anteriores, años de experiencia y calificaciones.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63056" y="182880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45936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345936" y="2468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Garantía escrita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345936" y="2852928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si de todas formas sale mal: de 30 a 90 días según el oficio, respaldada por la firma.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970264" y="182880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53144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9153144" y="2468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Pago retenido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53144" y="2852928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 la garantía se cumpla: el dinero se libera solo cuando el cliente aprueba.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4206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Cómo se usa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48640" y="4617720"/>
            <a:ext cx="26060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2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8368" y="461772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005840" y="46177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 la solicitud con fotos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355848" y="4617720"/>
            <a:ext cx="26060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2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65576" y="461772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3813048" y="46177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 cotizaciones de verificados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163056" y="4617720"/>
            <a:ext cx="26060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2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72784" y="461772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620256" y="46177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 y escoge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970264" y="4617720"/>
            <a:ext cx="26060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2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079992" y="461772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9427464" y="46177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Paga: el dinero queda retenido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48640" y="5486400"/>
            <a:ext cx="26060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2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" y="548640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1005840" y="54864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Escanea el QR al llegar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355848" y="5486400"/>
            <a:ext cx="26060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2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65576" y="548640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3813048" y="54864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profesional sube fotos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163056" y="5486400"/>
            <a:ext cx="26060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2E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272784" y="548640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6620256" y="54864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Aprueba y se activa la garantía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8970264" y="5486400"/>
            <a:ext cx="26060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2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079992" y="548640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9427464" y="54864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falla, Handyman responde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Viable: son reglas y formas de mostrar información, no tecnología cara, y la firma ya conoce a los profesionales.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9578F"/>
          </a:solidFill>
          <a:ln w="12700">
            <a:solidFill>
              <a:srgbClr val="D957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57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3 · IDEAR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Quién usa Handyman y cómo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plataforma de dos lados: el cliente que contrata y el profesional que trabaja, con Handyman en medio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3520440" cy="4526280"/>
          </a:xfrm>
          <a:prstGeom prst="roundRect">
            <a:avLst>
              <a:gd name="adj" fmla="val 3117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965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CLIENTE (quien paga)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233172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Dueño o inquilino de 30 a 60 años en el área metropolitana. Early adopters: quienes se acaban de mudar o ya vivieron un trabajo mal hecho.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77240" y="3547872"/>
            <a:ext cx="329184" cy="329184"/>
          </a:xfrm>
          <a:prstGeom prst="ellipse">
            <a:avLst/>
          </a:prstGeom>
          <a:solidFill>
            <a:srgbClr val="3154C8"/>
          </a:solidFill>
          <a:ln w="12700">
            <a:solidFill>
              <a:srgbClr val="3154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5478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234440" y="347472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 qué necesita con fotos o toca “Emergencia”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4114800"/>
            <a:ext cx="329184" cy="329184"/>
          </a:xfrm>
          <a:prstGeom prst="ellipse">
            <a:avLst/>
          </a:prstGeom>
          <a:solidFill>
            <a:srgbClr val="3154C8"/>
          </a:solidFill>
          <a:ln w="12700">
            <a:solidFill>
              <a:srgbClr val="3154C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114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234440" y="4041648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 cotizaciones y chatea antes de contratar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77240" y="4681728"/>
            <a:ext cx="329184" cy="329184"/>
          </a:xfrm>
          <a:prstGeom prst="ellipse">
            <a:avLst/>
          </a:prstGeom>
          <a:solidFill>
            <a:srgbClr val="3154C8"/>
          </a:solidFill>
          <a:ln w="12700">
            <a:solidFill>
              <a:srgbClr val="3154C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6817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234440" y="4608576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Paga: el dinero queda retenido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77240" y="5248656"/>
            <a:ext cx="329184" cy="329184"/>
          </a:xfrm>
          <a:prstGeom prst="ellipse">
            <a:avLst/>
          </a:prstGeom>
          <a:solidFill>
            <a:srgbClr val="3154C8"/>
          </a:solidFill>
          <a:ln w="12700">
            <a:solidFill>
              <a:srgbClr val="3154C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2486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234440" y="5175504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Escanea el QR al llegar el profesional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77240" y="5815584"/>
            <a:ext cx="329184" cy="329184"/>
          </a:xfrm>
          <a:prstGeom prst="ellipse">
            <a:avLst/>
          </a:prstGeom>
          <a:solidFill>
            <a:srgbClr val="3154C8"/>
          </a:solidFill>
          <a:ln w="12700">
            <a:solidFill>
              <a:srgbClr val="3154C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8155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234440" y="5742432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Aprueba con fotos o pide ayuda; recibe su garantía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297680" y="1828800"/>
            <a:ext cx="3520440" cy="4526280"/>
          </a:xfrm>
          <a:prstGeom prst="roundRect">
            <a:avLst>
              <a:gd name="adj" fmla="val 3117"/>
            </a:avLst>
          </a:prstGeom>
          <a:solidFill>
            <a:srgbClr val="E3F5EF"/>
          </a:solidFill>
          <a:ln w="12700">
            <a:solidFill>
              <a:srgbClr val="E3F5E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26280" y="1965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PROFESIONAL (usuario)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526280" y="233172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Plomeros, electricistas, albañiles y otros técnicos independientes, muchos ya conocidos por la firma en sus obras.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26280" y="3547872"/>
            <a:ext cx="329184" cy="329184"/>
          </a:xfrm>
          <a:prstGeom prst="ellipse">
            <a:avLst/>
          </a:prstGeom>
          <a:solidFill>
            <a:srgbClr val="1F9E7A"/>
          </a:solidFill>
          <a:ln w="12700">
            <a:solidFill>
              <a:srgbClr val="1F9E7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26280" y="35478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983480" y="347472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registra y sube DPI y antecedentes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526280" y="4114800"/>
            <a:ext cx="329184" cy="329184"/>
          </a:xfrm>
          <a:prstGeom prst="ellipse">
            <a:avLst/>
          </a:prstGeom>
          <a:solidFill>
            <a:srgbClr val="1F9E7A"/>
          </a:solidFill>
          <a:ln w="12700">
            <a:solidFill>
              <a:srgbClr val="1F9E7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26280" y="4114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983480" y="4041648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Handyman lo verifica y recibe su carné con QR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26280" y="4681728"/>
            <a:ext cx="329184" cy="329184"/>
          </a:xfrm>
          <a:prstGeom prst="ellipse">
            <a:avLst/>
          </a:prstGeom>
          <a:solidFill>
            <a:srgbClr val="1F9E7A"/>
          </a:solidFill>
          <a:ln w="12700">
            <a:solidFill>
              <a:srgbClr val="1F9E7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26280" y="46817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983480" y="4608576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Cotiza solicitudes de su oficio y zona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526280" y="5248656"/>
            <a:ext cx="329184" cy="329184"/>
          </a:xfrm>
          <a:prstGeom prst="ellipse">
            <a:avLst/>
          </a:prstGeom>
          <a:solidFill>
            <a:srgbClr val="1F9E7A"/>
          </a:solidFill>
          <a:ln w="12700">
            <a:solidFill>
              <a:srgbClr val="1F9E7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26280" y="52486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983480" y="5175504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 “Disponible ahora” para emergencias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26280" y="5815584"/>
            <a:ext cx="329184" cy="329184"/>
          </a:xfrm>
          <a:prstGeom prst="ellipse">
            <a:avLst/>
          </a:prstGeom>
          <a:solidFill>
            <a:srgbClr val="1F9E7A"/>
          </a:solidFill>
          <a:ln w="12700">
            <a:solidFill>
              <a:srgbClr val="1F9E7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26280" y="58155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983480" y="5742432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Sube fotos del trabajo y cobra al aprobarse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8046720" y="1828800"/>
            <a:ext cx="3520440" cy="4526280"/>
          </a:xfrm>
          <a:prstGeom prst="roundRect">
            <a:avLst>
              <a:gd name="adj" fmla="val 3117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275320" y="1965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HANDYMAN (la firma)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8275320" y="233172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Artefacto Creativo aporta el criterio técnico de obra, el equipo de soporte y el respaldo de la garantía.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8275320" y="3547872"/>
            <a:ext cx="329184" cy="329184"/>
          </a:xfrm>
          <a:prstGeom prst="ellipse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275320" y="35478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8732520" y="347472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 identidad y antecedentes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8275320" y="4114800"/>
            <a:ext cx="329184" cy="329184"/>
          </a:xfrm>
          <a:prstGeom prst="ellipse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275320" y="4114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8732520" y="4041648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Retiene el pago hasta la aprobación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8275320" y="4681728"/>
            <a:ext cx="329184" cy="329184"/>
          </a:xfrm>
          <a:prstGeom prst="ellipse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275320" y="46817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732520" y="4608576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Atiende soporte con tiempo de respuesta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8275320" y="5248656"/>
            <a:ext cx="329184" cy="329184"/>
          </a:xfrm>
          <a:prstGeom prst="ellipse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275320" y="52486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8732520" y="5175504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si algo sale mal y propone un acuerdo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8275320" y="5815584"/>
            <a:ext cx="329184" cy="329184"/>
          </a:xfrm>
          <a:prstGeom prst="ellipse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275320" y="58155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8732520" y="5742432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Evalúa precios y calidad técnica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9E7A"/>
          </a:solidFill>
          <a:ln w="12700">
            <a:solidFill>
              <a:srgbClr val="1F9E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4 · PROTOTIPAR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Prototipar: una plataforma web que ya funciona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una maqueta: un MVP en línea con datos reales que cualquiera puede probar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21208" y="1801368"/>
            <a:ext cx="4626864" cy="2907792"/>
          </a:xfrm>
          <a:prstGeom prst="rect">
            <a:avLst/>
          </a:prstGeom>
          <a:solidFill>
            <a:srgbClr val="E1E5EE"/>
          </a:solidFill>
          <a:ln w="12700">
            <a:solidFill>
              <a:srgbClr val="E1E5EE"/>
            </a:solidFill>
            <a:prstDash val="solid"/>
          </a:ln>
        </p:spPr>
      </p:sp>
      <p:pic>
        <p:nvPicPr>
          <p:cNvPr id="9" name="Image 0" descr="/Users/Mateo/Developer/.tools/lean/img/01_inic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828800"/>
            <a:ext cx="4572000" cy="285292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4864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Sitio público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321808" y="1801368"/>
            <a:ext cx="3118104" cy="1975104"/>
          </a:xfrm>
          <a:prstGeom prst="rect">
            <a:avLst/>
          </a:prstGeom>
          <a:solidFill>
            <a:srgbClr val="E1E5EE"/>
          </a:solidFill>
          <a:ln w="12700">
            <a:solidFill>
              <a:srgbClr val="E1E5EE"/>
            </a:solidFill>
            <a:prstDash val="solid"/>
          </a:ln>
        </p:spPr>
      </p:sp>
      <p:pic>
        <p:nvPicPr>
          <p:cNvPr id="12" name="Image 1" descr="/Users/Mateo/Developer/.tools/lean/img/11_comparar_cotizacione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349240" y="1828800"/>
            <a:ext cx="3063240" cy="19202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49240" y="382219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cotizaciones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567928" y="1801368"/>
            <a:ext cx="3072384" cy="1938528"/>
          </a:xfrm>
          <a:prstGeom prst="rect">
            <a:avLst/>
          </a:prstGeom>
          <a:solidFill>
            <a:srgbClr val="E1E5EE"/>
          </a:solidFill>
          <a:ln w="12700">
            <a:solidFill>
              <a:srgbClr val="E1E5EE"/>
            </a:solidFill>
            <a:prstDash val="solid"/>
          </a:ln>
        </p:spPr>
      </p:sp>
      <p:pic>
        <p:nvPicPr>
          <p:cNvPr id="15" name="Image 2" descr="/Users/Mateo/Developer/.tools/lean/img/16_garantia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595360" y="1828800"/>
            <a:ext cx="3017520" cy="188366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595360" y="378561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Garantía escrita y reclamos</a:t>
            </a:r>
            <a:endParaRPr lang="en-US" sz="1100" dirty="0"/>
          </a:p>
        </p:txBody>
      </p:sp>
      <p:sp>
        <p:nvSpPr>
          <p:cNvPr id="17" name="Text 12"/>
          <p:cNvSpPr/>
          <p:nvPr/>
        </p:nvSpPr>
        <p:spPr>
          <a:xfrm>
            <a:off x="5349240" y="4160520"/>
            <a:ext cx="6263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oficios y 3 tipos de cuenta: cliente, profesional y administración.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completo: solicitud → cotizaciones → orden → QR → fotos → aprobación o reclamo → garantía.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de documentos, auditoría de cada decisión y pagos simulados (DEMO).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548640" y="5074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handyman-gt.vercel.app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277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5 · TESTEAR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Testear: 18 personas probaron el prototipo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Entrevistas grabadas en video · edades de 17 a 53 años · 4 preguntas abiertas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5394960" cy="2103120"/>
          </a:xfrm>
          <a:prstGeom prst="roundRect">
            <a:avLst>
              <a:gd name="adj" fmla="val 5217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93852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277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¿Qué le cambiarías?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331720"/>
            <a:ext cx="27409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ven completo, no cambiarían nada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567989" y="2423160"/>
            <a:ext cx="1694383" cy="201168"/>
          </a:xfrm>
          <a:prstGeom prst="rect">
            <a:avLst/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67989" y="2423160"/>
            <a:ext cx="564230" cy="201168"/>
          </a:xfrm>
          <a:prstGeom prst="rect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53812" y="2331720"/>
            <a:ext cx="4983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7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33.3 %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77240" y="2715768"/>
            <a:ext cx="27409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más visual (color e imágenes)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567989" y="2807208"/>
            <a:ext cx="1694383" cy="201168"/>
          </a:xfrm>
          <a:prstGeom prst="rect">
            <a:avLst/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67989" y="2807208"/>
            <a:ext cx="376153" cy="201168"/>
          </a:xfrm>
          <a:prstGeom prst="rect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53812" y="2715768"/>
            <a:ext cx="4983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7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22.2 %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77240" y="3099816"/>
            <a:ext cx="27409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fácil de usar (tutorial, menos pasos)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3567989" y="3191256"/>
            <a:ext cx="1694383" cy="201168"/>
          </a:xfrm>
          <a:prstGeom prst="rect">
            <a:avLst/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67989" y="3191256"/>
            <a:ext cx="376153" cy="201168"/>
          </a:xfrm>
          <a:prstGeom prst="rect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53812" y="3099816"/>
            <a:ext cx="4983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7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22.2 %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77240" y="3483864"/>
            <a:ext cx="27409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información del profesional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3567989" y="3575304"/>
            <a:ext cx="1694383" cy="201168"/>
          </a:xfrm>
          <a:prstGeom prst="rect">
            <a:avLst/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67989" y="3575304"/>
            <a:ext cx="282962" cy="201168"/>
          </a:xfrm>
          <a:prstGeom prst="rect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353812" y="3483864"/>
            <a:ext cx="4983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7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16.7 %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172200" y="1828800"/>
            <a:ext cx="5394960" cy="2103120"/>
          </a:xfrm>
          <a:prstGeom prst="roundRect">
            <a:avLst>
              <a:gd name="adj" fmla="val 5217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0" y="193852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277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¿Qué te daría más confianza?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00800" y="2331720"/>
            <a:ext cx="27409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Referencias e historial del profesional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9191549" y="2423160"/>
            <a:ext cx="1694383" cy="201168"/>
          </a:xfrm>
          <a:prstGeom prst="rect">
            <a:avLst/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91549" y="2423160"/>
            <a:ext cx="698086" cy="201168"/>
          </a:xfrm>
          <a:prstGeom prst="rect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977372" y="2331720"/>
            <a:ext cx="4983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7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41.2 %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400800" y="2715768"/>
            <a:ext cx="27409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el avance en tiempo real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9191549" y="2807208"/>
            <a:ext cx="1694383" cy="201168"/>
          </a:xfrm>
          <a:prstGeom prst="rect">
            <a:avLst/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191549" y="2807208"/>
            <a:ext cx="498149" cy="201168"/>
          </a:xfrm>
          <a:prstGeom prst="rect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977372" y="2715768"/>
            <a:ext cx="4983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7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29.4 %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6400800" y="3099816"/>
            <a:ext cx="27409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directo con el profesional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9191549" y="3191256"/>
            <a:ext cx="1694383" cy="201168"/>
          </a:xfrm>
          <a:prstGeom prst="rect">
            <a:avLst/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91549" y="3191256"/>
            <a:ext cx="298211" cy="201168"/>
          </a:xfrm>
          <a:prstGeom prst="rect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977372" y="3099816"/>
            <a:ext cx="4983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7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17.6 %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6400800" y="3483864"/>
            <a:ext cx="27409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del profesional en camino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9191549" y="3575304"/>
            <a:ext cx="1694383" cy="201168"/>
          </a:xfrm>
          <a:prstGeom prst="rect">
            <a:avLst/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191549" y="3575304"/>
            <a:ext cx="298211" cy="201168"/>
          </a:xfrm>
          <a:prstGeom prst="rect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977372" y="3483864"/>
            <a:ext cx="4983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7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17.6 %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548640" y="4069080"/>
            <a:ext cx="5394960" cy="2103120"/>
          </a:xfrm>
          <a:prstGeom prst="roundRect">
            <a:avLst>
              <a:gd name="adj" fmla="val 5217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77240" y="417880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277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¿Faltan oficios o zonas?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777240" y="4572000"/>
            <a:ext cx="27409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Ampliar zonas y departamentos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3567989" y="4663440"/>
            <a:ext cx="1694383" cy="201168"/>
          </a:xfrm>
          <a:prstGeom prst="rect">
            <a:avLst/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567989" y="4663440"/>
            <a:ext cx="564230" cy="201168"/>
          </a:xfrm>
          <a:prstGeom prst="rect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353812" y="4572000"/>
            <a:ext cx="4983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7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33.3 %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777240" y="4956048"/>
            <a:ext cx="27409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Agregar oficios nuevos</a:t>
            </a:r>
            <a:endParaRPr lang="en-US" sz="1250" dirty="0"/>
          </a:p>
        </p:txBody>
      </p:sp>
      <p:sp>
        <p:nvSpPr>
          <p:cNvPr id="51" name="Shape 49"/>
          <p:cNvSpPr/>
          <p:nvPr/>
        </p:nvSpPr>
        <p:spPr>
          <a:xfrm>
            <a:off x="3567989" y="5047488"/>
            <a:ext cx="1694383" cy="201168"/>
          </a:xfrm>
          <a:prstGeom prst="rect">
            <a:avLst/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567989" y="5047488"/>
            <a:ext cx="564230" cy="201168"/>
          </a:xfrm>
          <a:prstGeom prst="rect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353812" y="4956048"/>
            <a:ext cx="4983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7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33.3 %</a:t>
            </a:r>
            <a:endParaRPr lang="en-US" sz="1250" dirty="0"/>
          </a:p>
        </p:txBody>
      </p:sp>
      <p:sp>
        <p:nvSpPr>
          <p:cNvPr id="54" name="Text 52"/>
          <p:cNvSpPr/>
          <p:nvPr/>
        </p:nvSpPr>
        <p:spPr>
          <a:xfrm>
            <a:off x="777240" y="5340096"/>
            <a:ext cx="27409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actual es suficiente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3567989" y="5431536"/>
            <a:ext cx="1694383" cy="201168"/>
          </a:xfrm>
          <a:prstGeom prst="rect">
            <a:avLst/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567989" y="5431536"/>
            <a:ext cx="564230" cy="201168"/>
          </a:xfrm>
          <a:prstGeom prst="rect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353812" y="5340096"/>
            <a:ext cx="4983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7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33.3 %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6172200" y="4069080"/>
            <a:ext cx="5394960" cy="2103120"/>
          </a:xfrm>
          <a:prstGeom prst="roundRect">
            <a:avLst>
              <a:gd name="adj" fmla="val 5217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400800" y="417880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277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 algo sale mal, ¿qué ayuda esperas?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6400800" y="4572000"/>
            <a:ext cx="27409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 rápida con una persona</a:t>
            </a:r>
            <a:endParaRPr lang="en-US" sz="1250" dirty="0"/>
          </a:p>
        </p:txBody>
      </p:sp>
      <p:sp>
        <p:nvSpPr>
          <p:cNvPr id="61" name="Shape 59"/>
          <p:cNvSpPr/>
          <p:nvPr/>
        </p:nvSpPr>
        <p:spPr>
          <a:xfrm>
            <a:off x="9191549" y="4663440"/>
            <a:ext cx="1694383" cy="201168"/>
          </a:xfrm>
          <a:prstGeom prst="rect">
            <a:avLst/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9191549" y="4663440"/>
            <a:ext cx="752306" cy="201168"/>
          </a:xfrm>
          <a:prstGeom prst="rect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0977372" y="4572000"/>
            <a:ext cx="4983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7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44.4 %</a:t>
            </a:r>
            <a:endParaRPr lang="en-US" sz="1250" dirty="0"/>
          </a:p>
        </p:txBody>
      </p:sp>
      <p:sp>
        <p:nvSpPr>
          <p:cNvPr id="64" name="Text 62"/>
          <p:cNvSpPr/>
          <p:nvPr/>
        </p:nvSpPr>
        <p:spPr>
          <a:xfrm>
            <a:off x="6400800" y="4956048"/>
            <a:ext cx="27409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la plataforma medie</a:t>
            </a:r>
            <a:endParaRPr lang="en-US" sz="1250" dirty="0"/>
          </a:p>
        </p:txBody>
      </p:sp>
      <p:sp>
        <p:nvSpPr>
          <p:cNvPr id="65" name="Shape 63"/>
          <p:cNvSpPr/>
          <p:nvPr/>
        </p:nvSpPr>
        <p:spPr>
          <a:xfrm>
            <a:off x="9191549" y="5047488"/>
            <a:ext cx="1694383" cy="201168"/>
          </a:xfrm>
          <a:prstGeom prst="rect">
            <a:avLst/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9191549" y="5047488"/>
            <a:ext cx="564230" cy="201168"/>
          </a:xfrm>
          <a:prstGeom prst="rect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0977372" y="4956048"/>
            <a:ext cx="4983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7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33.3 %</a:t>
            </a:r>
            <a:endParaRPr lang="en-US" sz="1250" dirty="0"/>
          </a:p>
        </p:txBody>
      </p:sp>
      <p:sp>
        <p:nvSpPr>
          <p:cNvPr id="68" name="Text 66"/>
          <p:cNvSpPr/>
          <p:nvPr/>
        </p:nvSpPr>
        <p:spPr>
          <a:xfrm>
            <a:off x="6400800" y="5340096"/>
            <a:ext cx="27409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otro corrija sin costo</a:t>
            </a:r>
            <a:endParaRPr lang="en-US" sz="1250" dirty="0"/>
          </a:p>
        </p:txBody>
      </p:sp>
      <p:sp>
        <p:nvSpPr>
          <p:cNvPr id="69" name="Shape 67"/>
          <p:cNvSpPr/>
          <p:nvPr/>
        </p:nvSpPr>
        <p:spPr>
          <a:xfrm>
            <a:off x="9191549" y="5431536"/>
            <a:ext cx="1694383" cy="201168"/>
          </a:xfrm>
          <a:prstGeom prst="rect">
            <a:avLst/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191549" y="5431536"/>
            <a:ext cx="376153" cy="201168"/>
          </a:xfrm>
          <a:prstGeom prst="rect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0977372" y="5340096"/>
            <a:ext cx="4983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7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22.2 %</a:t>
            </a:r>
            <a:endParaRPr lang="en-US" sz="1250" dirty="0"/>
          </a:p>
        </p:txBody>
      </p:sp>
      <p:sp>
        <p:nvSpPr>
          <p:cNvPr id="72" name="Text 70"/>
          <p:cNvSpPr/>
          <p:nvPr/>
        </p:nvSpPr>
        <p:spPr>
          <a:xfrm>
            <a:off x="6400800" y="5724144"/>
            <a:ext cx="27409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Supervisión de un experto</a:t>
            </a:r>
            <a:endParaRPr lang="en-US" sz="1250" dirty="0"/>
          </a:p>
        </p:txBody>
      </p:sp>
      <p:sp>
        <p:nvSpPr>
          <p:cNvPr id="73" name="Shape 71"/>
          <p:cNvSpPr/>
          <p:nvPr/>
        </p:nvSpPr>
        <p:spPr>
          <a:xfrm>
            <a:off x="9191549" y="5815584"/>
            <a:ext cx="1694383" cy="201168"/>
          </a:xfrm>
          <a:prstGeom prst="rect">
            <a:avLst/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191549" y="5815584"/>
            <a:ext cx="188077" cy="201168"/>
          </a:xfrm>
          <a:prstGeom prst="rect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10977372" y="5724144"/>
            <a:ext cx="4983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7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11.1 %</a:t>
            </a:r>
            <a:endParaRPr lang="en-US" sz="1250" dirty="0"/>
          </a:p>
        </p:txBody>
      </p:sp>
      <p:sp>
        <p:nvSpPr>
          <p:cNvPr id="76" name="Text 74"/>
          <p:cNvSpPr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Porcentajes sobre personas que respondieron (n = 18; n = 17 en la segunda pregunta); una persona podía mencionar más de una cosa.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277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5 · TESTEAR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 que aprendimos y qué cambiamos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hallazgo se convirtió en una mejora del prototipo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5212080" cy="731520"/>
          </a:xfrm>
          <a:prstGeom prst="roundRect">
            <a:avLst>
              <a:gd name="adj" fmla="val 15000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82880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de 18 (77.8 %) esperan que Handyman se involucre si algo sale mal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897880" y="2029968"/>
            <a:ext cx="457200" cy="329184"/>
          </a:xfrm>
          <a:prstGeom prst="rightArrow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1828800"/>
            <a:ext cx="5120640" cy="731520"/>
          </a:xfrm>
          <a:prstGeom prst="roundRect">
            <a:avLst>
              <a:gd name="adj" fmla="val 15000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20840" y="18288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 de soporte con agente, tiempo de respuesta y mediación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2697480"/>
            <a:ext cx="5212080" cy="731520"/>
          </a:xfrm>
          <a:prstGeom prst="roundRect">
            <a:avLst>
              <a:gd name="adj" fmla="val 15000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26974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una emergencia nadie quiere esperar horas por cotizaciones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897880" y="2898648"/>
            <a:ext cx="457200" cy="329184"/>
          </a:xfrm>
          <a:prstGeom prst="rightArrow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92240" y="2697480"/>
            <a:ext cx="5120640" cy="731520"/>
          </a:xfrm>
          <a:prstGeom prst="roundRect">
            <a:avLst>
              <a:gd name="adj" fmla="val 15000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20840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Carril de urgencias: botón de Emergencia y llegada estimada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566160"/>
            <a:ext cx="5212080" cy="731520"/>
          </a:xfrm>
          <a:prstGeom prst="roundRect">
            <a:avLst>
              <a:gd name="adj" fmla="val 15000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5661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Quieren hablar con el profesional y ver el avance (29.4 % y 17.6 %)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897880" y="3767328"/>
            <a:ext cx="457200" cy="329184"/>
          </a:xfrm>
          <a:prstGeom prst="rightArrow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92240" y="3566160"/>
            <a:ext cx="5120640" cy="731520"/>
          </a:xfrm>
          <a:prstGeom prst="roundRect">
            <a:avLst>
              <a:gd name="adj" fmla="val 15000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20840" y="35661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tipo WhatsApp con avisos de cada paso y botón Llamar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4434840"/>
            <a:ext cx="5212080" cy="731520"/>
          </a:xfrm>
          <a:prstGeom prst="roundRect">
            <a:avLst>
              <a:gd name="adj" fmla="val 15000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44348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Piden un diseño más visual y fácil de usar (22.2 % y 22.2 %)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897880" y="4636008"/>
            <a:ext cx="457200" cy="329184"/>
          </a:xfrm>
          <a:prstGeom prst="rightArrow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92240" y="4434840"/>
            <a:ext cx="5120640" cy="731520"/>
          </a:xfrm>
          <a:prstGeom prst="roundRect">
            <a:avLst>
              <a:gd name="adj" fmla="val 15000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20840" y="443484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 con dos botones, tutorial, ayuda “?” y letra grande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5303520"/>
            <a:ext cx="5212080" cy="731520"/>
          </a:xfrm>
          <a:prstGeom prst="roundRect">
            <a:avLst>
              <a:gd name="adj" fmla="val 15000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53035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33.3 % pide más zonas y oficios; varios ya existían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897880" y="5504688"/>
            <a:ext cx="457200" cy="329184"/>
          </a:xfrm>
          <a:prstGeom prst="rightArrow">
            <a:avLst/>
          </a:prstGeom>
          <a:solidFill>
            <a:srgbClr val="E2774A"/>
          </a:solidFill>
          <a:ln w="12700">
            <a:solidFill>
              <a:srgbClr val="E277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92240" y="5303520"/>
            <a:ext cx="5120640" cy="731520"/>
          </a:xfrm>
          <a:prstGeom prst="roundRect">
            <a:avLst>
              <a:gd name="adj" fmla="val 15000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20840" y="530352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Hoja de ruta: zonas por departamento y mejor buscador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48640" y="6217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27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plataforma sí genera confianza: nadie pidió quitar funciones. Lo que piden es acompañamiento rápido y más facilidad.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154C8"/>
          </a:solidFill>
          <a:ln w="12700">
            <a:solidFill>
              <a:srgbClr val="3154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ITERACIÓN · PROTOTIPO MEJORADO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Prototipo mejorado: versión 2 en línea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cambios construidos a partir de las entrevistas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21208" y="1801368"/>
            <a:ext cx="4261104" cy="2688336"/>
          </a:xfrm>
          <a:prstGeom prst="rect">
            <a:avLst/>
          </a:prstGeom>
          <a:solidFill>
            <a:srgbClr val="E1E5EE"/>
          </a:solidFill>
          <a:ln w="12700">
            <a:solidFill>
              <a:srgbClr val="E1E5EE"/>
            </a:solidFill>
            <a:prstDash val="solid"/>
          </a:ln>
        </p:spPr>
      </p:sp>
      <p:pic>
        <p:nvPicPr>
          <p:cNvPr id="9" name="Image 0" descr="/Users/Mateo/Developer/.tools/lean/img/10_cliente_inic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828800"/>
            <a:ext cx="4206240" cy="2633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48640" y="453542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Inicio simple: Emergencia o Planificar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956048" y="1801368"/>
            <a:ext cx="3300984" cy="2084832"/>
          </a:xfrm>
          <a:prstGeom prst="rect">
            <a:avLst/>
          </a:prstGeom>
          <a:solidFill>
            <a:srgbClr val="E1E5EE"/>
          </a:solidFill>
          <a:ln w="12700">
            <a:solidFill>
              <a:srgbClr val="E1E5EE"/>
            </a:solidFill>
            <a:prstDash val="solid"/>
          </a:ln>
        </p:spPr>
      </p:sp>
      <p:pic>
        <p:nvPicPr>
          <p:cNvPr id="12" name="Image 1" descr="/Users/Mateo/Developer/.tools/lean/img/14_emergenci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983480" y="1828800"/>
            <a:ext cx="3246120" cy="202996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983480" y="39319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Carril de urgencias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385048" y="1801368"/>
            <a:ext cx="3255264" cy="2057400"/>
          </a:xfrm>
          <a:prstGeom prst="rect">
            <a:avLst/>
          </a:prstGeom>
          <a:solidFill>
            <a:srgbClr val="E1E5EE"/>
          </a:solidFill>
          <a:ln w="12700">
            <a:solidFill>
              <a:srgbClr val="E1E5EE"/>
            </a:solidFill>
            <a:prstDash val="solid"/>
          </a:ln>
        </p:spPr>
      </p:sp>
      <p:pic>
        <p:nvPicPr>
          <p:cNvPr id="15" name="Image 2" descr="/Users/Mateo/Developer/.tools/lean/img/30_centro_soport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412480" y="1828800"/>
            <a:ext cx="3200400" cy="200253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412480" y="39044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Centro de soporte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4956048" y="4224528"/>
            <a:ext cx="3300984" cy="2084832"/>
          </a:xfrm>
          <a:prstGeom prst="rect">
            <a:avLst/>
          </a:prstGeom>
          <a:solidFill>
            <a:srgbClr val="E1E5EE"/>
          </a:solidFill>
          <a:ln w="12700">
            <a:solidFill>
              <a:srgbClr val="E1E5EE"/>
            </a:solidFill>
            <a:prstDash val="solid"/>
          </a:ln>
        </p:spPr>
      </p:sp>
      <p:pic>
        <p:nvPicPr>
          <p:cNvPr id="18" name="Image 3" descr="/Users/Mateo/Developer/.tools/lean/img/13_chat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983480" y="4251960"/>
            <a:ext cx="3246120" cy="202996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4983480" y="635508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Mensajería y E · Llamar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21208" y="4727448"/>
            <a:ext cx="969264" cy="1655064"/>
          </a:xfrm>
          <a:prstGeom prst="rect">
            <a:avLst/>
          </a:prstGeom>
          <a:solidFill>
            <a:srgbClr val="E1E5EE"/>
          </a:solidFill>
          <a:ln w="12700">
            <a:solidFill>
              <a:srgbClr val="E1E5EE"/>
            </a:solidFill>
            <a:prstDash val="solid"/>
          </a:ln>
        </p:spPr>
      </p:sp>
      <p:pic>
        <p:nvPicPr>
          <p:cNvPr id="21" name="Image 4" descr="/Users/Mateo/Developer/.tools/lean/img/17_cliente_movil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48640" y="4754880"/>
            <a:ext cx="914400" cy="16002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8458200" y="4297680"/>
            <a:ext cx="292608" cy="292608"/>
          </a:xfrm>
          <a:prstGeom prst="ellipse">
            <a:avLst/>
          </a:prstGeom>
          <a:solidFill>
            <a:srgbClr val="3154C8"/>
          </a:solidFill>
          <a:ln w="12700">
            <a:solidFill>
              <a:srgbClr val="3154C8"/>
            </a:solidFill>
            <a:prstDash val="solid"/>
          </a:ln>
        </p:spPr>
      </p:sp>
      <p:sp>
        <p:nvSpPr>
          <p:cNvPr id="23" name="Text 16"/>
          <p:cNvSpPr/>
          <p:nvPr/>
        </p:nvSpPr>
        <p:spPr>
          <a:xfrm>
            <a:off x="8458200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</a:t>
            </a:r>
            <a:endParaRPr lang="en-US" sz="1100" dirty="0"/>
          </a:p>
        </p:txBody>
      </p:sp>
      <p:sp>
        <p:nvSpPr>
          <p:cNvPr id="24" name="Text 17"/>
          <p:cNvSpPr/>
          <p:nvPr/>
        </p:nvSpPr>
        <p:spPr>
          <a:xfrm>
            <a:off x="8869680" y="425196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Mensajería tipo WhatsApp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8458200" y="4709160"/>
            <a:ext cx="292608" cy="292608"/>
          </a:xfrm>
          <a:prstGeom prst="ellipse">
            <a:avLst/>
          </a:prstGeom>
          <a:solidFill>
            <a:srgbClr val="3154C8"/>
          </a:solidFill>
          <a:ln w="12700">
            <a:solidFill>
              <a:srgbClr val="3154C8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845820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</a:t>
            </a:r>
            <a:endParaRPr lang="en-US" sz="1100" dirty="0"/>
          </a:p>
        </p:txBody>
      </p:sp>
      <p:sp>
        <p:nvSpPr>
          <p:cNvPr id="27" name="Text 20"/>
          <p:cNvSpPr/>
          <p:nvPr/>
        </p:nvSpPr>
        <p:spPr>
          <a:xfrm>
            <a:off x="8869680" y="4663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 de soporte y mediación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8458200" y="5120640"/>
            <a:ext cx="292608" cy="292608"/>
          </a:xfrm>
          <a:prstGeom prst="ellipse">
            <a:avLst/>
          </a:prstGeom>
          <a:solidFill>
            <a:srgbClr val="3154C8"/>
          </a:solidFill>
          <a:ln w="12700">
            <a:solidFill>
              <a:srgbClr val="3154C8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845820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8869680" y="50749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Urgencias con evaluador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8458200" y="5532120"/>
            <a:ext cx="292608" cy="292608"/>
          </a:xfrm>
          <a:prstGeom prst="ellipse">
            <a:avLst/>
          </a:prstGeom>
          <a:solidFill>
            <a:srgbClr val="3154C8"/>
          </a:solidFill>
          <a:ln w="12700">
            <a:solidFill>
              <a:srgbClr val="3154C8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8458200" y="5532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</a:t>
            </a:r>
            <a:endParaRPr lang="en-US" sz="1100" dirty="0"/>
          </a:p>
        </p:txBody>
      </p:sp>
      <p:sp>
        <p:nvSpPr>
          <p:cNvPr id="33" name="Text 26"/>
          <p:cNvSpPr/>
          <p:nvPr/>
        </p:nvSpPr>
        <p:spPr>
          <a:xfrm>
            <a:off x="8869680" y="54864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más simple</a:t>
            </a:r>
            <a:endParaRPr lang="en-US" sz="1300" dirty="0"/>
          </a:p>
        </p:txBody>
      </p:sp>
      <p:sp>
        <p:nvSpPr>
          <p:cNvPr id="34" name="Shape 27"/>
          <p:cNvSpPr/>
          <p:nvPr/>
        </p:nvSpPr>
        <p:spPr>
          <a:xfrm>
            <a:off x="8458200" y="5943600"/>
            <a:ext cx="292608" cy="292608"/>
          </a:xfrm>
          <a:prstGeom prst="ellipse">
            <a:avLst/>
          </a:prstGeom>
          <a:solidFill>
            <a:srgbClr val="3154C8"/>
          </a:solidFill>
          <a:ln w="12700">
            <a:solidFill>
              <a:srgbClr val="3154C8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458200" y="5943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</a:t>
            </a:r>
            <a:endParaRPr lang="en-US" sz="1100" dirty="0"/>
          </a:p>
        </p:txBody>
      </p:sp>
      <p:sp>
        <p:nvSpPr>
          <p:cNvPr id="36" name="Text 29"/>
          <p:cNvSpPr/>
          <p:nvPr/>
        </p:nvSpPr>
        <p:spPr>
          <a:xfrm>
            <a:off x="8869680" y="58978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Llamadas por línea</a:t>
            </a:r>
            <a:endParaRPr lang="en-US" sz="1300" dirty="0"/>
          </a:p>
        </p:txBody>
      </p:sp>
      <p:sp>
        <p:nvSpPr>
          <p:cNvPr id="37" name="Text 30"/>
          <p:cNvSpPr/>
          <p:nvPr/>
        </p:nvSpPr>
        <p:spPr>
          <a:xfrm>
            <a:off x="1600200" y="50292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también en el teléfono, con letra grande opcional.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LEAN CANVAS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Propuesta de valor y ventaja frente a la competencia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“Profesionales verificados en tu casa, con precio acordado antes de empezar y garantía por escrito.”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645920"/>
                <a:gridCol w="2103120"/>
                <a:gridCol w="1645920"/>
                <a:gridCol w="146304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0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Boca a boca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0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Grupos de Facebook / WhatsApp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0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Servicios de tiendas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0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Handyman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54C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Identidad verificada y QR al llegar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✘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✘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✘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2733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✔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 trabajos anteriores y calificaciones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86E0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~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86E0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~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✘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2733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✔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Precio y alcance acordados antes de empezar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✘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✘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86E0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~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2733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✔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Pago retenido hasta aprobar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✘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✘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✘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2733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✔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Garantía escrita y alguien que responde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✘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✘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86E0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~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2733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✔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Disponible cuando no hay a quién preguntar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✘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2733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✔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2733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✔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2733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✔</a:t>
                      </a:r>
                      <a:endParaRPr lang="en-US" sz="18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D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48640" y="53492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539496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Ventaja distintiva: Artefacto Creativo tiene criterio de obra para saber si un trabajo quedó bien. Verificar identidades es papeleo que cualquiera puede copiar; juzgar la calidad técnica requiere años de experiencia.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LEAN CANVAS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Lean Canvas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de negocio en una página, construido con lo validado en cada fase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pic>
        <p:nvPicPr>
          <p:cNvPr id="8" name="Image 0" descr="/Users/Mateo/Developer/.tools/lean/img/lean_canva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91640"/>
            <a:ext cx="1106424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LEAN CANVAS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Precio de venta: quién paga qué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precio del trabajo lo cotiza el profesional; Handyman cobra una comisión y una tarifa pequeña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8745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con un trabajo promedio de Q 1,000 (el 47.6 % de la encuesta pagó entre Q 500 y Q 1,500 por su último trabajo)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2240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Precio cotizado por el profesional: Q 1,000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10896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2461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cliente paga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77240" y="356616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 1,015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777240" y="42976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1,000 del trabajo + Q 15 de tarifa de servicio y garantía (1.5 %). Queda retenido hasta que aprueba.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297680" y="310896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E3F5EF"/>
          </a:solidFill>
          <a:ln w="12700">
            <a:solidFill>
              <a:srgbClr val="E3F5E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26280" y="32461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profesional recibe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26280" y="356616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 900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4526280" y="42976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1,000 menos 10 % de comisión. A cambio recibe clientes sin buscarlos y un perfil verificado.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046720" y="310896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4DC"/>
          </a:solidFill>
          <a:ln w="12700">
            <a:solidFill>
              <a:srgbClr val="FFF4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75320" y="32461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6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Handyman ingresa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75320" y="356616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B86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 115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8275320" y="42976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100 de comisión + Q 15 de tarifa. De ahí paga la pasarela (≈ Q 32 en promedio) y el fondo de garantía (Q 20).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55321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así: el 61.9 % no pagaría más de 10 % extra, así que el cliente solo paga 1.5 % más; la comisión sale del margen del profesional, compensada con el volumen de trabajos. Emergencias: visita de diagnóstico a Q 150 fijo (Handyman retiene 25 %), que se descuenta si contrata la reparación.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LEAN CANVAS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Estructura de costos y punto de equilibrio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Costos del piloto de 3 a 6 meses; el equipo base y la oficina los aporta Artefacto Creativo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852160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Costos fijos al mes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0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Monto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02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Plataforma: hosting, base de datos, dominio y mensajería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Q 400</a:t>
                      </a:r>
                      <a:endParaRPr lang="en-US" sz="13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Agente de soporte y verificación (medio tiempo, salario mínimo 2026 + prestaciones)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Q 3,000</a:t>
                      </a:r>
                      <a:endParaRPr lang="en-US" sz="13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Marketing base (alianzas con condominios y anuncios)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Q 1,000</a:t>
                      </a:r>
                      <a:endParaRPr lang="en-US" sz="13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Contabilidad y legal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Q 300</a:t>
                      </a:r>
                      <a:endParaRPr lang="en-US" sz="13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Total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3154C8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Q 4,700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828800"/>
          <a:ext cx="49377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2860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Costos variables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0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Cuánto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02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Pasarela de pago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34C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4.5 % con tarjeta; transferencia sin costo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 de garantía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34C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2 % de cada trabajo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Antecedentes de cada profesional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34C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vez, al verificarlo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Adquisición de clientes (CAC)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34C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menos de Q 50 por cliente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48640" y="484632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22960" y="49377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Margen por trabajo: Q 115 − Q 32 de pasarela (70 % paga con tarjeta) − Q 20 = Q 63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822960" y="534924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Punto de equilibrio: Q 4,700 ÷ Q 63 ≈ 75 trabajos al mes</a:t>
            </a:r>
            <a:endParaRPr lang="en-US" sz="2200" dirty="0"/>
          </a:p>
        </p:txBody>
      </p:sp>
      <p:sp>
        <p:nvSpPr>
          <p:cNvPr id="13" name="Text 9"/>
          <p:cNvSpPr/>
          <p:nvPr/>
        </p:nvSpPr>
        <p:spPr>
          <a:xfrm>
            <a:off x="822960" y="5852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el 76.2 % contrata solo 1 o 2 trabajos al año, los condominios y oficinas son clave para llegar al volumen.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LEAN CANVAS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Canales: cómo llegamos a los primeros 100 clientes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90.5 % contrata por recomendación, nuestros canales deben parecerse a una recomendación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3520440" cy="2057400"/>
          </a:xfrm>
          <a:prstGeom prst="roundRect">
            <a:avLst>
              <a:gd name="adj" fmla="val 5333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0116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Condominios y edificios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77240" y="2487168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Alianzas con administraciones: QR en áreas comunes y comunicado a residentes. Dan volumen constante (el 76.2 % contrata poco).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297680" y="1828800"/>
            <a:ext cx="3520440" cy="2057400"/>
          </a:xfrm>
          <a:prstGeom prst="roundRect">
            <a:avLst>
              <a:gd name="adj" fmla="val 5333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26280" y="20116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Referidos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26280" y="2487168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50 de crédito por recomendar a un familiar o vecino: convertimos el boca a boca en un canal medible.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46720" y="1828800"/>
            <a:ext cx="3520440" cy="2057400"/>
          </a:xfrm>
          <a:prstGeom prst="roundRect">
            <a:avLst>
              <a:gd name="adj" fmla="val 5333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75320" y="20116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Búsqueda en Google y Maps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75320" y="2487168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Anuncios para “plomero zona 10”: personas con la necesidad en ese momento.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069080"/>
            <a:ext cx="3520440" cy="2057400"/>
          </a:xfrm>
          <a:prstGeom prst="roundRect">
            <a:avLst>
              <a:gd name="adj" fmla="val 5333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2519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Redes sociales por zona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77240" y="4727448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 segmentado por zona y edad (46 a 55 años) con el mensaje de garantía.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297680" y="4069080"/>
            <a:ext cx="3520440" cy="2057400"/>
          </a:xfrm>
          <a:prstGeom prst="roundRect">
            <a:avLst>
              <a:gd name="adj" fmla="val 5333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26280" y="42519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Arquitectos e ingenieros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526280" y="4727448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14.3 % recibe recomendaciones de ellos: la red de Artefacto Creativo como canal.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046720" y="4069080"/>
            <a:ext cx="3520440" cy="2057400"/>
          </a:xfrm>
          <a:prstGeom prst="roundRect">
            <a:avLst>
              <a:gd name="adj" fmla="val 5333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75320" y="42519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Profesionales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275320" y="4727448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INTECAP, ferreterías y obras de la firma para sumar técnicos verificados.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LEAN CANVAS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Métricas: cómo sabremos si funciona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Números que miden acción y valor, no likes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9933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74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LIQUIDEZ DEL MERCADO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77240" y="22860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&lt; 4 h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777240" y="30632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recibir la primera cotización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97680" y="18288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6280" y="19933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74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CONVERSIÓN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26280" y="22860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≥ 35 %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4526280" y="30632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solicitudes se convierten en orden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046720" y="18288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75320" y="19933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74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RECOMPRA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275320" y="22860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≥ 30 %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8275320" y="30632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vuelve a contratar en 90 días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0233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41879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74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CALIDAD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77240" y="44805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&lt; 5 %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777240" y="52578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órdenes con reclamo; 90 % resueltos en plazo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297680" y="40233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26280" y="41879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74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URGENCIAS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526280" y="44805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&lt; 60 min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4526280" y="52578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llegada en emergencias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46720" y="40233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75320" y="41879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748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SOSTENIBILIDAD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275320" y="44805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75 / mes</a:t>
            </a:r>
            <a:endParaRPr lang="en-US" sz="3200" dirty="0"/>
          </a:p>
        </p:txBody>
      </p:sp>
      <p:sp>
        <p:nvSpPr>
          <p:cNvPr id="31" name="Text 29"/>
          <p:cNvSpPr/>
          <p:nvPr/>
        </p:nvSpPr>
        <p:spPr>
          <a:xfrm>
            <a:off x="8275320" y="52578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trabajos para el punto de equilibrio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LEAN CANVAS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Reflexión: ¿por qué funciona y cómo lo sabemos?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preguntas del planificador de ABR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E6F5EC"/>
          </a:solidFill>
          <a:ln w="12700">
            <a:solidFill>
              <a:srgbClr val="E6F5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9202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7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fue efectiva la solución? Porque ataca el problema que la gente nombró, no el que suponíamos: 80.9 % usaría una app con verificación, precio previo y garantía, y al probar el prototipo nadie pidió quitarle funciones (33.3 % no le cambiaría nada).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48640" y="3246120"/>
            <a:ext cx="3520440" cy="3063240"/>
          </a:xfrm>
          <a:prstGeom prst="roundRect">
            <a:avLst>
              <a:gd name="adj" fmla="val 35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3832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 que aprendimos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77240" y="3840480"/>
            <a:ext cx="3108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Enamorarnos del problema, no de la solución.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Dejar que los datos decidan: “pagar con tarjeta” y “rapidez” sacaron 0 %.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Prototipar rápido y probar con personas reales.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297680" y="3246120"/>
            <a:ext cx="3520440" cy="3063240"/>
          </a:xfrm>
          <a:prstGeom prst="roundRect">
            <a:avLst>
              <a:gd name="adj" fmla="val 3582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26280" y="33832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quién impactamos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26280" y="3840480"/>
            <a:ext cx="3108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personas que nos dieron su tiempo: 28 en la encuesta y 18 en las pruebas.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Hogares que hoy contratan a ciegas.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Técnicos independientes que ganan clientes y un perfil verificado.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046720" y="3246120"/>
            <a:ext cx="3520440" cy="3063240"/>
          </a:xfrm>
          <a:prstGeom prst="roundRect">
            <a:avLst>
              <a:gd name="adj" fmla="val 3582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75320" y="33832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Cómo nos prepara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75320" y="3840480"/>
            <a:ext cx="3108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antes de invertir: el Lean Canvas como hipótesis.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Trabajar en equipo con roles por fase.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Convertir una empresa tradicional en un negocio digital.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LEAN CANVAS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Próximos pasos: del prototipo a un piloto real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Mejoras a la idea priorizadas con lo que pidieron las personas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332720" y="274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algn="r"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5F6FA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828800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463040" y="182880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Piloto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0" y="182880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condominios de zonas 10 a 16 y 6 profesionales “disponibles ahora”. Meta: 75 trabajos al mes.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2944368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944368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1463040" y="2944368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Más cobertura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72000" y="2944368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Zonas por departamento con lista de espera, empezando por Xela, y categoría de electrodomésticos.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059936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5F6FA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4059936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1463040" y="4059936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Más confianza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72000" y="4059936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Referencias verificadas por teléfono y garantía de reemplazo con otro profesional sin costo.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5175504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1E5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175504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1463040" y="5175504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Listo para clientes reales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572000" y="5175504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Pasarela de pagos, verificación externa de antecedentes, números enmascarados y términos legales.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¡Gracias!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731520" y="25603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Prueba Handyman en tu teléfono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329184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500" dirty="0">
                <a:solidFill>
                  <a:srgbClr val="D6D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Cliente: cliente@handyman.demo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500" dirty="0">
                <a:solidFill>
                  <a:srgbClr val="D6D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Profesional: plomero@handyman.demo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500" dirty="0">
                <a:solidFill>
                  <a:srgbClr val="D6D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Administración: admin@handyman.demo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●"/>
            </a:pPr>
            <a:r>
              <a:rPr lang="en-US" sz="1500" dirty="0">
                <a:solidFill>
                  <a:srgbClr val="D6D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Contraseña de las cuentas demo: Handyman2026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5760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F99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Pagos simulados y datos ficticios: es un MVP académico.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38160" y="1371600"/>
            <a:ext cx="3291840" cy="38404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/Users/Mateo/Developer/.tools/lean/img/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0" y="1600200"/>
            <a:ext cx="2743200" cy="2743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138160" y="45262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handyman-gt.vercel.app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Artefacto Creativo, S.A.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Handyman · Presentación final</dc:title>
  <dc:subject>PptxGenJS Presentation</dc:subject>
  <dc:creator>PptxGenJS</dc:creator>
  <cp:lastModifiedBy>PptxGenJS</cp:lastModifiedBy>
  <cp:revision>1</cp:revision>
  <dcterms:created xsi:type="dcterms:W3CDTF">2026-10-28T01:46:31Z</dcterms:created>
  <dcterms:modified xsi:type="dcterms:W3CDTF">2026-10-28T01:46:31Z</dcterms:modified>
</cp:coreProperties>
</file>