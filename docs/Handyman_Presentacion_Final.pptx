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proyecto en una frase: Handyman resuelve la desconfianza al contratar a un trabajador para la casa. El QR lleva a la plataforma en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aportó tres ideas en la fase de idear y cinco entrevistas en empatizar; en testear, cada uno grabó tres entrevistas.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del proyecto. Mencionar que el Lean Canvas resume en una página todo lo validado en las fases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I: elección del reto y datos de la empresa base. Confirmar con el equipo la categoría del reto elegida en la entrega de la Fase 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empatía (qué ve, oye, piensa y siente, dice y hace, esfuerzos y resultados) guió las preguntas. Muestreo por conveniencia; las 7 personas que no contrataron nada en el año no respondieron las preguntas de la 1 a la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mercado no tiene alternativa digital: todo es boca a boca. La desconfianza tiene dos caras: quién entra a mi casa y si el trabajo quedará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citas muestran que el problema no es teórico: ya les pasó y lo resolvieron pagando de nuevo.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necesidades: trabajo bien hecho, saber a quién se abre la puerta, respaldo si sale mal, claridad de precio y cumplimiento de tiempo. P1 gana en los cuatro criterios, y además es donde Artefacto Creativo aporta su experiencia en 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"¿Cómo podríamos…?" con la estructura vista en clase. Descartamos dos alternativas: verificar profesionales (es P2, un medio) y respaldar después del daño (la gente quiere que quede bien desde el inicio).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14 primeras salieron de SCAMPER y las 4 últimas de Pensar PO, provocando supuestos: que el cliente escoge, que se paga por trabajo, que el trabajador debe ir, que la empresa paga la garantía.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ganadoras se parecen: casi todas son reglas o formas de mostrar información, no tecnología cara. Por eso son viables para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otras cuatro ganadoras (cotización por foto, calificación doble, diagnóstico previo y videollamada) se dejaron para la segunda versión; parte de ellas ya se incorporó en la versión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Prototipo funcional en línea las 24 horas. Cuentas demo con contraseña Handyman2026 para probar cada 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grabó tres entrevistas. Las respuestas abiertas se agruparon en categorías.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Juan Pablo Castillo sugirió que, si no hay profesional disponible, la página no diga solo "no hay", porque el cliente se va. Eso originó el carril de urgencias.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A: chat previo y de la orden. B: cada caso tiene número, agente, tiempo de respuesta y un acuerdo que ambas partes aceptan. C: emergencia en un toque, visita a precio fijo y el primer profesional disponible llega con hora estimada. D: tutorial, ayuda contextual y dictado por voz. E: botón Llamar en órdenes activas y a la línea de Handyman.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✔ sí lo ofrece · ~ a veces o depende de la persona · ✘ no lo ofrece. Con el volumen, la red local de profesionales y los datos de precios reales también se vuelven difíciles de copiar.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los bloques en el orden sugerido: problema, clientes, propuesta de valor, solución, canales, ingresos, costos, métricas y ventaja especial.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promedio de Q 1,000 porque el 47.6 % pagó entre Q 500 y Q 1,500 por su último trabajo. Supuestos a validar en el piloto; los pagos del prototipo son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Meta: primeros 100 clientes en 2 condominios piloto más referidos. Comparar el costo de adquisición de cada canal con el mismo presupuesto.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panel de administración de la plataforma ya calcula varias de estas métricas: tiempo a la primera cotización, conversión, casos abiertos y tiempos de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conectando con la frase de la clase: "Del 80 % al 95 % de los nuevos productos fracasan porque la empresa se enamoró de su solución, no del problema del cliente".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Invitar a escanear el QR y probar el carril de emergencia y el centro de soporte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943600" cy="5943600"/>
          </a:xfrm>
          <a:prstGeom prst="ellipse">
            <a:avLst/>
          </a:prstGeom>
          <a:solidFill>
            <a:srgbClr val="161F35"/>
          </a:solidFill>
          <a:ln w="12700">
            <a:solidFill>
              <a:srgbClr val="16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6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 verificados en tu casa, con precio acordado antes de empezar y garantía por escrito.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520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 · Proceso de Design Thinking y Lean Canvas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274320" cy="274320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4114800"/>
            <a:ext cx="274320" cy="274320"/>
          </a:xfrm>
          <a:prstGeom prst="ellipse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4114800"/>
            <a:ext cx="274320" cy="274320"/>
          </a:xfrm>
          <a:prstGeom prst="ellipse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65960" y="4114800"/>
            <a:ext cx="274320" cy="274320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0" y="4114800"/>
            <a:ext cx="274320" cy="274320"/>
          </a:xfrm>
          <a:prstGeom prst="ellipse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Mgtr. Mónica Lou de Gutiérrez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Rafael Landívar · Equipo 5 · Octubre de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3931920"/>
            <a:ext cx="21945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/private/tmp/claude-502/-Users-Mateo-Developer-HNDYMN/c8d39cc6-4e93-47b3-849a-5449d9560262/scratchpad/sho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4069080"/>
            <a:ext cx="1828800" cy="18288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326880" y="5989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handyman-gt.vercel.app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Nuestro equipo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integrantes, cinco fases y una plataforma funcionando en línea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Mateo Salguero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1308826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Sustituir y Combinar (carné QR, cotización por foto). Desarrollo de la plataforma.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4924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Sebastián Aguilar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4924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1245025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Combinar y Adaptar (calificación doble, garantía escrita).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09828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Alicia Mendoza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9828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1193226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7532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Modificar, Otro uso y Eliminar (pago retenido, perfil con trabajos).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FF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0020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Fabio Franco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0020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1087126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724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Reordenar y Pensar PO (diagnóstico previo, Handyman responde).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4924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Santiago Spillari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34924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2211125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2628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Pensar PO (membresía, videollamada, fondo de garantía).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4672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7532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7532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9828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Fernanda Salazar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09828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1107023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27532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campo y entrevistas de validación del prototipo.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lo construimos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reto al modelo de negocio, siguiendo el proceso de Design Thinking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788920"/>
            <a:ext cx="9681210" cy="0"/>
          </a:xfrm>
          <a:prstGeom prst="line">
            <a:avLst/>
          </a:prstGeom>
          <a:noFill/>
          <a:ln w="38100">
            <a:solidFill>
              <a:srgbClr val="CBD2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377440"/>
            <a:ext cx="822960" cy="822960"/>
          </a:xfrm>
          <a:prstGeom prst="ellipse">
            <a:avLst/>
          </a:prstGeom>
          <a:solidFill>
            <a:srgbClr val="25325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14–20 sep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14550" y="2377440"/>
            <a:ext cx="822960" cy="822960"/>
          </a:xfrm>
          <a:prstGeom prst="ellipse">
            <a:avLst/>
          </a:prstGeom>
          <a:solidFill>
            <a:srgbClr val="E0A1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1455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4023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4023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21–29 sep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97580" y="2377440"/>
            <a:ext cx="822960" cy="822960"/>
          </a:xfrm>
          <a:prstGeom prst="ellipse">
            <a:avLst/>
          </a:prstGeom>
          <a:solidFill>
            <a:srgbClr val="7B6FD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9758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2326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232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sep – 7 oct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80610" y="2377440"/>
            <a:ext cx="822960" cy="822960"/>
          </a:xfrm>
          <a:prstGeom prst="ellipse">
            <a:avLst/>
          </a:prstGeom>
          <a:solidFill>
            <a:srgbClr val="D9578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061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0629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0629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5–12 oct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2377440"/>
            <a:ext cx="822960" cy="822960"/>
          </a:xfrm>
          <a:prstGeom prst="ellipse">
            <a:avLst/>
          </a:prstGeom>
          <a:solidFill>
            <a:srgbClr val="1F9E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893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893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oct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46670" y="2377440"/>
            <a:ext cx="822960" cy="822960"/>
          </a:xfrm>
          <a:prstGeom prst="ellipse">
            <a:avLst/>
          </a:prstGeom>
          <a:solidFill>
            <a:srgbClr val="E277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667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7235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7235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oct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029700" y="2377440"/>
            <a:ext cx="822960" cy="822960"/>
          </a:xfrm>
          <a:prstGeom prst="ellipse">
            <a:avLst/>
          </a:prstGeom>
          <a:solidFill>
            <a:srgbClr val="3154C8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2970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5538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Iterar (v2)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553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19–27 oct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412730" y="2377440"/>
            <a:ext cx="822960" cy="822960"/>
          </a:xfrm>
          <a:prstGeom prst="ellipse">
            <a:avLst/>
          </a:prstGeom>
          <a:solidFill>
            <a:srgbClr val="0B102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1273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LC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13841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3841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20–27 oct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idea central del proceso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5029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empezamos por la app: empezamos por las personas. 28 encuestas nos dijeron qué problema resolver, 18 ideas nos dieron la solución, y 18 entrevistas con el prototipo nos dijeron qué mejorar. Cada fase cambió algo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reto: reinventar cómo se contrata un trabajo para la casa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empresa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4688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 Creativo, S.A.: firma con experiencia en diseño y obra en la Ciudad de Guatemala.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Conoce a plomeros, electricistas, albañiles y carpinteros porque ha trabajado con ellos en sus proyectos.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algo que la competencia no tiene: el criterio técnico para saber si un trabajo quedó bien hecho.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468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Reinventar lo cotidiano: llevar a una plataforma digital un negocio tradicional que hoy funciona solo de boca en boca.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37947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inicial: la gente no sabe a quién contratar ni cuánto le van a cobrar.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inicial: hogares y oficinas del área metropolitana.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financiera planteada: punto de equilibrio con 75 trabajos al mes.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Empatizar: ¿quién contrata estos trabajos?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en Google Forms organizado según el mapa de empatía · 28 respuestas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respondieron; 21 contrataron un trabajo en el último año (n = 21)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60.7 %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56616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entre 46 y 55 años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82.1 %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0080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en casa propia y decide sobre su mantenimiento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52560" y="1828800"/>
            <a:ext cx="256032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965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64.3 %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235440" y="26517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en la Ciudad de Guatemala o Mixco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del cliente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de 30 a 60 años, dueño o inquilino de su vivienda en el área metropolitana de la Ciudad de Guatemala, con ingresos formales (profesionales liberales 32.1 %, comercio 25 %, oficina 17.9 %) y poco tiempo. Es quien decide los arreglos del hogar, contrata 1 o 2 trabajos al año y paga entre Q 500 y Q 1,500 por cada uno. Hoy depende de que un familiar o conocido le recomiende a alguien.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encontramos: la confianza es el problema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trabajo de campo (n = 21)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contrató su último trabajo por recomendación de un conocido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ha usado una app o página web para contratar estos servicios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57.2 %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siente poco tranquilo (1 o 2 de 5) al dejar entrar a un desconocido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que lo más frustrante es que el trabajo quede mal hecho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52.4 %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48056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vivió un trabajo mal hecho; la salida fue pagar otra vez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95.2 %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822960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calificó con 5 de 5 que alguien responda si el trabajo sale mal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80.9 % calificó con 4 o 5 su disposición a usar una app con profesional verificado, precio previo y garantía.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nos contaron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abiertas del cuestionario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574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“Robaron.”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salió mal en un trabajo anterior, en una sola palabra.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0574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“Llamando a otra persona para que lo arreglara.”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resolvieron un trabajo mal hecho: nadie reclamó, pagaron dos veces.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“Contraté un plomero… no lograron resolver el problema. Al final cobraron por no resolverlo.”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mal hecho y cobro igual.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“No terminaba a tiempo, así que tuve que darle almuerzo y desayuno para que no se fuera a su casa.”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dónde llega el cliente para que le terminen.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Definir: de necesidades a problemas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+ necesidad = problema · priorizados con 4 criterios de 1 a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1188720"/>
                <a:gridCol w="1143000"/>
                <a:gridCol w="1005840"/>
                <a:gridCol w="11430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Frecuencia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Intensidad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Alcance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Capacidad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P1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puede saber si el trabajador es bueno antes de contratarlo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P2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depende de que un conocido le recomiende a alguien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19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Nadie responde si sale mal: contrata de palabra y paga dos veces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hay precio ni alcance claros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terminan en el tiempo acordado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Sorpresa: P4 (precio) y P5 (tiempo) quedaron al final. Antes de las encuestas creíamos que serían lo más importante.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problema que elegimos resolver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P1 resuelve en parte P2 y P3: para garantizar el trabajo primero hay que verificar quién lo hace y respaldar el resultado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¿Cómo podríamos garantizar que un trabajo del hogar quede bien hecho desde la primera vez, para que las familias de la Ciudad de Guatemala dejen de depender de la suerte y de la recomendación de un conocido?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Usamos “garantizar” y no “conectar”: el 90.5 % ya encuentra a alguien por un conocido. El problema no es encontrarlo, es saber si lo hará bien.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Tres supuestos que los datos nos tumbaron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eligió “pagar con tarjeta” o “rapidez”. Dejaron de ser diferenciadores: 52.4 % ya paga por transferencia.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≤ 10 %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48056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máximo extra que pagaría el 61.9 %. La comisión debe salir del margen del profesional, no del cliente.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4672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76.2 %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2960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 solo 1 o 2 trabajos al año. Hay que sumar condominios y oficinas para llegar a 75 trabajos al mes.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Idear: 18 ideas con SCAMPER y Pensar 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ideas por integrante, aplicadas a cómo se contrata hoy a alguien para la casa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código QR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7824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Revisión de arquitecto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8016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Trabajo + materiales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8912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como electrodoméstico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28016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29768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anteriores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4672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3816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3816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77824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8016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29768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8912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04672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3816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3816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77824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efectivo y regateo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4864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008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28016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 firme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29768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8912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02920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Hora fija o descuento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04672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13816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13816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77824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4864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4008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008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28016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 de la casa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429768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38912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02920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804672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13816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3816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877824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SCAMPER: Sustituir · Combinar · Adaptar · Modificar · Poner en otro uso · Eliminar · Reordenar.   Pensar PO: llevar un supuesto a su contrario (¿y si el cliente no escoge al trabajador?).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evaluación de ideas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contra tiempo y dinero necesarios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GANADORAS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y fáciles de hacer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QR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escrita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anteriores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BE8F1"/>
          </a:solidFill>
          <a:ln w="12700">
            <a:solidFill>
              <a:srgbClr val="FBE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pero costosas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Arquitecto en todos los trabajos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154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PÉRDIDA DE TIEMPO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costosas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Vender los materiales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condominios*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DEBE9"/>
          </a:solidFill>
          <a:ln w="12700">
            <a:solidFill>
              <a:srgbClr val="FDEB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BASURA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sin respaldo en datos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el efectivo (52.4 % ya transfiere)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9154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Descuento si llega tarde (solo 14.3 % lo pidió)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contratos con condominios no son malos: no son innovadores, pero sí importantes para el negocio porque dan trabajo constante. Quedan para después.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solución: cuatro pilares de confianza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4 de las 8 ganadoras porque cubren las dos necesidades y se pueden hacer con lo que la firma ya tiene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Carné con QR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quién entra a la casa: identidad y antecedentes verificados; el cliente escanea el QR al llegar.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55848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8728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con trabajos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38728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si sabe hacerlo: fotos de trabajos anteriores, años de experiencia y calificaciones.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63056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Garantía escrita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si de todas formas sale mal: de 30 a 90 días según el oficio, respaldada por la firma.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70264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314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Pago retenido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53144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la garantía se cumpla: el dinero se libera solo cuando el cliente aprueba.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se usa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5840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la solicitud con fotos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55848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65576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813048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cotizaciones de verificados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63056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2784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20256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y escoge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70264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79992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427464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Paga: el dinero queda retenido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05840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el QR al llegar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355848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65576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813048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profesional sube fotos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63056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72784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620256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 y se activa la garantía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970264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79992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427464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falla, Handyman responde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4 · PROTOTIPAR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Prototipar: una plataforma web que ya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una maqueta: un MVP en línea con datos reales que cualquiera puede probar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626864" cy="290779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private/tmp/claude-502/-Users-Mateo-Developer-HNDYMN/c8d39cc6-4e93-47b3-849a-5449d9560262/scratchpad/shots/01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572000" cy="2852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21808" y="1801368"/>
            <a:ext cx="3118104" cy="197510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private/tmp/claude-502/-Users-Mateo-Developer-HNDYMN/c8d39cc6-4e93-47b3-849a-5449d9560262/scratchpad/shots/11_comparar_cotizacion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49240" y="1828800"/>
            <a:ext cx="3063240" cy="1920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38221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cotizaciones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567928" y="1801368"/>
            <a:ext cx="3072384" cy="1938528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private/tmp/claude-502/-Users-Mateo-Developer-HNDYMN/c8d39cc6-4e93-47b3-849a-5449d9560262/scratchpad/shots/16_garant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95360" y="1828800"/>
            <a:ext cx="3017520" cy="18836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95360" y="3785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y reclamos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349240" y="4160520"/>
            <a:ext cx="6263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oficios y 3 tipos de cuenta: cliente, profesional y administración.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solicitud → cotizaciones → orden → QR → fotos → aprobación o reclamo → garantía.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documentos, auditoría de cada decisión y pagos simulados (DEMO).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Testear: 18 personas probaron el prototipo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grabadas en video · edades de 17 a 53 años · 4 preguntas abiertas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38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le cambiarías?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ven completo, no cambiarían nada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567989" y="242316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7989" y="2423160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53812" y="233172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271576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más visual (color e imágenes)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567989" y="280720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7989" y="2807208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53812" y="271576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309981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fácil de usar (tutorial, menos pasos)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567989" y="319125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7989" y="3191256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53812" y="309981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" y="348386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información del profesional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567989" y="357530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7989" y="3575304"/>
            <a:ext cx="282962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53812" y="348386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16.7 %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1938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te daría más confianza?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233172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e historial del profesional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191549" y="242316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91549" y="2423160"/>
            <a:ext cx="698086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7372" y="233172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41.2 %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0" y="271576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avance en tiempo real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191549" y="280720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91549" y="2807208"/>
            <a:ext cx="498149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77372" y="271576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29.4 %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0" y="309981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directo con el profesional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191549" y="319125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91549" y="3191256"/>
            <a:ext cx="298211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7372" y="309981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17.6 %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400800" y="348386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del profesional en camino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191549" y="357530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91549" y="3575304"/>
            <a:ext cx="298211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977372" y="348386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17.6 %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178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¿Faltan oficios o zonas?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7240" y="457200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zonas y departamentos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3567989" y="466344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67989" y="4663440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53812" y="457200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77240" y="495604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oficios nuevos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567989" y="504748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7989" y="5047488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53812" y="495604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77240" y="534009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actual es suficiente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3567989" y="543153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567989" y="5431536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53812" y="534009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178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 algo sale mal, ¿qué ayuda esperas?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400800" y="457200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rápida con una persona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9191549" y="466344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91549" y="4663440"/>
            <a:ext cx="752306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77372" y="457200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44.4 %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400800" y="495604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plataforma medie</a:t>
            </a:r>
            <a:endParaRPr lang="en-US" sz="1250" dirty="0"/>
          </a:p>
        </p:txBody>
      </p:sp>
      <p:sp>
        <p:nvSpPr>
          <p:cNvPr id="65" name="Shape 63"/>
          <p:cNvSpPr/>
          <p:nvPr/>
        </p:nvSpPr>
        <p:spPr>
          <a:xfrm>
            <a:off x="9191549" y="504748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91549" y="5047488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977372" y="495604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6400800" y="534009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otro corrija sin costo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9191549" y="543153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91549" y="5431536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977372" y="534009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6400800" y="572414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 de un experto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9191549" y="581558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191549" y="5815584"/>
            <a:ext cx="188077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977372" y="572414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11.1 %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Porcentajes sobre personas que respondieron (n = 18; n = 17 en la segunda pregunta); una persona podía mencionar más de una cosa.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 y qué cambiamos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hallazgo se convirtió en una mejora del prototipo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18 (77.8 %) esperan que Handyman se involucre si algo sale mal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97880" y="202996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82880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con agente, tiempo de respuesta y mediación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emergencia nadie quiere esperar horas por cotizaciones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97880" y="289864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69748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Carril de urgencias: botón de Emergencia y llegada estimada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Quieren hablar con el profesional y ver el avance (29.4 % y 17.6 %)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376732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56616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tipo WhatsApp con avisos de cada paso y botón Llamar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Piden un diseño más visual y fácil de usar (22.2 % y 22.2 %)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97880" y="463600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43484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4434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con dos botones, tutorial, ayuda “?” y letra grande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303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 pide más zonas y oficios; varios ya existían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897880" y="550468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530352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5303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ruta: zonas por departamento y mejor buscador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sí genera confianza: nadie pidió quitar funciones. Lo que piden es acompañamiento rápido y más facilidad.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ITERACIÓN · PROTOTIPO MEJORADO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Prototipo mejorado: versión 2 en línea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cambios construidos a partir de las entrevistas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261104" cy="2688336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private/tmp/claude-502/-Users-Mateo-Developer-HNDYMN/c8d39cc6-4e93-47b3-849a-5449d9560262/scratchpad/shots/10_cliente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206240" cy="2633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535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Inicio simple: Emergencia o Planificar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56048" y="180136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private/tmp/claude-502/-Users-Mateo-Developer-HNDYMN/c8d39cc6-4e93-47b3-849a-5449d9560262/scratchpad/shots/14_emergenc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83480" y="1828800"/>
            <a:ext cx="3246120" cy="20299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3480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Carril de urgencias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85048" y="1801368"/>
            <a:ext cx="3255264" cy="2057400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private/tmp/claude-502/-Users-Mateo-Developer-HNDYMN/c8d39cc6-4e93-47b3-849a-5449d9560262/scratchpad/shots/30_centro_soport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2480" y="1828800"/>
            <a:ext cx="3200400" cy="20025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904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Centro de soporte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56048" y="422452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8" name="Image 3" descr="/private/tmp/claude-502/-Users-Mateo-Developer-HNDYMN/c8d39cc6-4e93-47b3-849a-5449d9560262/scratchpad/shots/13_cha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983480" y="4251960"/>
            <a:ext cx="3246120" cy="20299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983480" y="6355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Mensajería y E · Llamar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21208" y="4727448"/>
            <a:ext cx="969264" cy="165506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21" name="Image 4" descr="/private/tmp/claude-502/-Users-Mateo-Developer-HNDYMN/c8d39cc6-4e93-47b3-849a-5449d9560262/scratchpad/shots/17_cliente_movil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48640" y="4754880"/>
            <a:ext cx="914400" cy="1600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458200" y="429768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45820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8869680" y="4251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tipo WhatsApp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458200" y="470916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845820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886968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y mediación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458200" y="512064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4582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8869680" y="5074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Urgencias con evaluador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8458200" y="553212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458200" y="553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8869680" y="5486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más simple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8458200" y="594360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458200" y="5943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8869680" y="5897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por línea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1600200" y="5029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también en el teléfono, con letra grande opcional.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valor y ventaja frente a la competencia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“Profesionales verificados en tu casa, con precio acordado antes de empezar y garantía por escrito.”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2103120"/>
                <a:gridCol w="164592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Boca a boca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Grupos de Facebook / WhatsApp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Servicios de tiendas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Handyman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 verificada y QR al llegar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trabajos anteriores y calificaciones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y alcance acordados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retenido hasta aprobar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Garantía escrita y alguien que responde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Disponible cuando no hay a quién preguntar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distintiva: Artefacto Creativo tiene criterio de obra para saber si un trabajo quedó bien. Verificar identidades es papeleo que cualquiera puede copiar; juzgar la calidad técnica requiere años de experiencia.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negocio en una página, construido con lo validado en cada fase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8" name="Image 0" descr="/private/tmp/claude-502/-Users-Mateo-Developer-HNDYMN/c8d39cc6-4e93-47b3-849a-5449d9560262/scratchpad/shots/lean_canv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1106424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ganamos dinero y precio de venta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comisión sale del margen del profesional: el cliente no aceptaría pagar más de 10 % extra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840480" cy="1325880"/>
          </a:xfrm>
          <a:prstGeom prst="roundRect">
            <a:avLst>
              <a:gd name="adj" fmla="val 827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comisión al profesional por cada trabajo pagado en la plataforma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3840480" cy="1325880"/>
          </a:xfrm>
          <a:prstGeom prst="roundRect">
            <a:avLst>
              <a:gd name="adj" fmla="val 827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290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servicio y garantía al cliente por orden (1.5 % de un trabajo promedio)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3840480" cy="1325880"/>
          </a:xfrm>
          <a:prstGeom prst="roundRect">
            <a:avLst>
              <a:gd name="adj" fmla="val 827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92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150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31520" y="5577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de diagnóstico de emergencia a precio fijo; Handyman retiene 25 %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286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Trabajo promedio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1,000.00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Comisión (10 %)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 Q 100.00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 Q 15.00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Pasarela de pago (≈ 4 %)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40.60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 de garantía (2 %)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20.00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por trabajo</a:t>
                      </a:r>
                      <a:endParaRPr lang="en-US" sz="15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F5A5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54.40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754880" y="4892040"/>
            <a:ext cx="6858000" cy="1417320"/>
          </a:xfrm>
          <a:prstGeom prst="roundRect">
            <a:avLst>
              <a:gd name="adj" fmla="val 7742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9834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75 trabajos al mes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4983480" y="54864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Q 4,080 de costos fijos ÷ Q 54.40 de margen. El equipo y la oficina los aporta Artefacto Creativo (intraemprendimiento).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Canales: cómo llegamos a los primeros 100 clientes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90.5 % contrata por recomendación, nuestros canales deben parecerse a una recomendación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Condominios y edificios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administraciones: QR en áreas comunes y comunicado a residentes. Dan volumen constante (el 76.2 % contrata poco).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Referidos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50 de crédito por recomendar a un familiar o vecino: convertimos el boca a boca en un canal medible.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Búsqueda en Google y Maps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 para “plomero zona 10”: personas con la necesidad en ese momento.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Redes sociales por zona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segmentado por zona y edad (46 a 55 años) con el mensaje de garantía.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Arquitectos e ingenieros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2628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14.3 % recibe recomendaciones de ellos: la red de Artefacto Creativo como canal.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4672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7532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INTECAP, ferreterías y obras de la firma para sumar técnicos verificados.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Métricas: cómo sabremos si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que miden acción y valor, no likes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LIQUIDEZ DEL MERCADO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4 h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recibir la primera cotización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CONVERSIÓN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262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35 %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52628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solicitudes se convierten en orden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RECOMPRA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7532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30 %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27532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contratar en 90 días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5 %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7724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órdenes con reclamo; 90 % resueltos en plazo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URGENCIAS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2628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60 min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52628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llegada en emergencias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7532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SOSTENIBILIDAD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7532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mes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827532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para el punto de equilibrio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pasos y lo que aprendimos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prototipo académico a un piloto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5394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con 2 condominios de zonas 10 a 16 y 6 profesionales “disponibles ahora”.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por departamento con lista de espera para medir la demanda.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verificadas por teléfono y garantía de reemplazo con otro profesional.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clientes reales: pasarela de pagos, verificación externa de antecedentes y términos legales.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5146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Enamorarse del problema, no de la solución: el problema no era encontrar a alguien, sino saber si lo hará bien.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nos tumbaron ideas que creíamos buenas (pagar con tarjeta, rapidez).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temprano con personas reales cambió el producto: soporte, urgencias y simplicidad salieron de las entrevistas.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Prueba Handyman en tu teléfono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cliente@handyman.demo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Profesional: plomero@handyman.demo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Administración: admin@handyman.demo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 de las cuentas demo: Handyman2026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y datos ficticios: es un MVP académico.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1371600"/>
            <a:ext cx="329184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private/tmp/claude-502/-Users-Mateo-Developer-HNDYMN/c8d39cc6-4e93-47b3-849a-5449d9560262/scratchpad/sho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2743200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4526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Handyman · Presentación final</dc:title>
  <dc:subject>PptxGenJS Presentation</dc:subject>
  <dc:creator>PptxGenJS</dc:creator>
  <cp:lastModifiedBy>PptxGenJS</cp:lastModifiedBy>
  <cp:revision>1</cp:revision>
  <dcterms:created xsi:type="dcterms:W3CDTF">2026-10-28T00:44:58Z</dcterms:created>
  <dcterms:modified xsi:type="dcterms:W3CDTF">2026-10-28T00:44:58Z</dcterms:modified>
</cp:coreProperties>
</file>