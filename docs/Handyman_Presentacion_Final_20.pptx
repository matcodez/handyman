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proyecto en una frase: Handyman resuelve la desconfianza al contratar a un trabajador para la casa. El QR lleva a la plataforma en línea.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Contar la historia en primera persona, sin leer. Pausa después de "la fuga vuelve". Luego: "Por eso creamos Handyman".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aportó tres ideas en la fase de idear y cinco entrevistas en empatizar; en testear, cada uno grabó tres entrevistas.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fases del Aprendizaje Basado en Retos: Empatizar y Definir están en Investigar; Idear, Prototipar y Testear en Actuar.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Departamento de Guatemala: unos 3 millones de habitantes en el Censo 2018, con alrededor de 4 personas por hogar en zona urbana. 75 % y 1.5 trabajos al año salen de nuestra encuesta (76.2 % contrató 1 o 2). Q 1,000 por trabajo: el 47.6 % pagó entre Q 500 y Q 1,500.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Mercado sin alternativa digital: todo es boca a boca. Dos caras de la desconfianza: quién entra a mi casa y si el trabajo quedará bien.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necesidad más relevante es la 1. Las necesidades 2 y 3 son la forma de lograrla: verificar quién es y respaldar el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Usamos “garantizar” y no “conectar”: el 90.5 % ya encuentra a alguien. El problema es saber si lo hará bien.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ganadoras son reglas o formas de mostrar información, no tecnología cara. Los contratos con condominios no son malos, solo poco innovadores; son clave para el volumen.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Viable: son reglas y formas de mostrar información, y la firma ya conoce a los profesionales por sus obras.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Prototipo funcional en línea las 24 horas. Cuentas demo con contraseña Handyman2026 para probar cada 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Porcentajes sobre personas que respondieron (n = 18; n = 17 en la pregunta 2). Un tercio pidió más zonas y oficios; varios ya existían.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A: chat previo y de la orden. B: cada caso tiene número, agente, tiempo de respuesta y un acuerdo que ambas partes aceptan. C: emergencia en un toque, visita a precio fijo y el primer profesional disponible llega con hora estimada. D: tutorial, ayuda contextual y dictado por voz. E: botón Llamar en órdenes activas y a la línea de Handyman.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✔ sí lo ofrece · ~ a veces o depende de la persona · ✘ no lo ofrece. Con el volumen, la red local de profesionales y los datos de precios reales también se vuelven difíciles de copiar.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los bloques en el orden sugerido: problema, clientes, propuesta de valor, solución, canales, ingresos, costos, métricas y ventaja especial.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qué así: el 61.9 % no pagaría más de 10 % extra, así que el cliente solo paga 1.5 % más y la comisión sale del margen del profesional. Cifras del piloto, a validar; pagos simulados en el MVP.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Meta: primeros 100 clientes con 2 condominios piloto y referidos. Métricas que miden acción y valor, no likes.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Responder las preguntas del planificador: ¿Cuál es la solución? ¿Por qué fue efectiva y cómo lo sabes? ¿Qué conocimientos aprendiste? ¿Cómo impactaste a las personas? ¿Cómo te prepara para futuros retos?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 frase de la clase: "Del 80 % al 95 % de los nuevos productos fracasan porque la empresa se enamoró de su solución, no del problema del cliente". Nosotros empezamos por el problema.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Invitar a escanear el QR y probar el carril de emergencia y el centro de soporte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943600" cy="5943600"/>
          </a:xfrm>
          <a:prstGeom prst="ellipse">
            <a:avLst/>
          </a:prstGeom>
          <a:solidFill>
            <a:srgbClr val="161F35"/>
          </a:solidFill>
          <a:ln w="12700">
            <a:solidFill>
              <a:srgbClr val="161F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1887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indent="0" marL="0">
              <a:buNone/>
            </a:pPr>
            <a:r>
              <a:rPr lang="en-US" sz="6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Profesionales verificados en tu casa, con precio acordado antes de empezar y garantía por escrito.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35204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8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Intraemprendimiento de Artefacto Creativo, S.A. · Proceso de Design Thinking y Lean Canvas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274320" cy="274320"/>
          </a:xfrm>
          <a:prstGeom prst="ellipse">
            <a:avLst/>
          </a:prstGeom>
          <a:solidFill>
            <a:srgbClr val="E0A100"/>
          </a:solidFill>
          <a:ln w="12700">
            <a:solidFill>
              <a:srgbClr val="E0A1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3000" y="4114800"/>
            <a:ext cx="274320" cy="274320"/>
          </a:xfrm>
          <a:prstGeom prst="ellipse">
            <a:avLst/>
          </a:prstGeom>
          <a:solidFill>
            <a:srgbClr val="7B6FD0"/>
          </a:solidFill>
          <a:ln w="12700">
            <a:solidFill>
              <a:srgbClr val="7B6F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54480" y="4114800"/>
            <a:ext cx="274320" cy="274320"/>
          </a:xfrm>
          <a:prstGeom prst="ellipse">
            <a:avLst/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65960" y="4114800"/>
            <a:ext cx="274320" cy="274320"/>
          </a:xfrm>
          <a:prstGeom prst="ellipse">
            <a:avLst/>
          </a:prstGeom>
          <a:solidFill>
            <a:srgbClr val="1F9E7A"/>
          </a:solidFill>
          <a:ln w="12700">
            <a:solidFill>
              <a:srgbClr val="1F9E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77440" y="4114800"/>
            <a:ext cx="274320" cy="274320"/>
          </a:xfrm>
          <a:prstGeom prst="ellipse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760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9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Empresarial y Fundamentos de Emprendimiento · Mgtr. Mónica Lou de Gutiérrez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9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Rafael Landívar · Equipo 5 · Octubre de 2026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326880" y="3931920"/>
            <a:ext cx="219456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0" descr="/Users/Mateo/Developer/.tools/lean/img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0" y="4069080"/>
            <a:ext cx="1828800" cy="18288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9326880" y="5989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handyman-gt.vercel.app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Domingo, 7 de la noche.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rompe la tubería bajo el lavatrastos. El agua empieza a salir y no sabes a quién llamar.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22960" y="27889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 escribes a tu familia. Alguien te pasa el número de “un maestro de confianza” al que nunca has visto.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22960" y="37490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Llega. Le abres la puerta de tu casa. Cobra lo que dice. Y a las dos semanas, la fuga vuelve.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10515600" cy="1325880"/>
          </a:xfrm>
          <a:prstGeom prst="roundRect">
            <a:avLst>
              <a:gd name="adj" fmla="val 8276"/>
            </a:avLst>
          </a:prstGeom>
          <a:solidFill>
            <a:srgbClr val="161F35"/>
          </a:solidFill>
          <a:ln w="12700">
            <a:solidFill>
              <a:srgbClr val="2532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4937760"/>
            <a:ext cx="10058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no es un caso aislado: al 52.4 % de las personas que encuestamos ya le quedó mal un trabajo, y el 90.5 % solo puede confiar en la recomendación de un conocido.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3252"/>
          </a:solidFill>
          <a:ln w="12700">
            <a:solidFill>
              <a:srgbClr val="2532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32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I · EL RETO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Nuestro equipo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integrantes, cinco fases y una plataforma funcionando en línea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148840"/>
            <a:ext cx="685800" cy="685800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1488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600200" y="21762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Mateo Salguero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00200" y="25237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1308826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2971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Ideas: Sustituir y Combinar (carné QR, cotización por foto). Desarrollo de la plataforma.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97680" y="19202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26280" y="2148840"/>
            <a:ext cx="685800" cy="685800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6280" y="21488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349240" y="21762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Sebastián Aguilar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349240" y="25237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1245025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26280" y="2971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Ideas: Combinar y Adaptar (calificación doble, garantía escrita).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46720" y="19202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75320" y="2148840"/>
            <a:ext cx="685800" cy="685800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75320" y="21488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098280" y="21762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Alicia Mendoza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098280" y="25237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1193226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75320" y="2971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Ideas: Modificar, Otro uso y Eliminar (pago retenido, perfil con trabajos).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06908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4297680"/>
            <a:ext cx="685800" cy="685800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4297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FF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600200" y="432511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Fabio Franco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600200" y="46725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1087126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77240" y="5120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Ideas: Reordenar y Pensar PO (diagnóstico previo, Handyman responde).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97680" y="406908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26280" y="4297680"/>
            <a:ext cx="685800" cy="685800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26280" y="4297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SS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5349240" y="432511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Santiago Spillari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349240" y="46725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2211125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26280" y="5120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Ideas: Pensar PO (membresía, videollamada, fondo de garantía).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046720" y="406908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75320" y="4297680"/>
            <a:ext cx="685800" cy="685800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75320" y="4297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FS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098280" y="432511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Fernanda Salazar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9098280" y="46725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1107023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275320" y="5120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campo y entrevistas de validación del prototipo.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3252"/>
          </a:solidFill>
          <a:ln w="12700">
            <a:solidFill>
              <a:srgbClr val="2532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32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I · EL RETO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reto: reinventar cómo se contrata un trabajo para la casa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Categoría: Reinventar lo cotidiano · intraemprendimiento de Artefacto Creativo, S.A., firma con criterio de obra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2606040" cy="548640"/>
          </a:xfrm>
          <a:prstGeom prst="rect">
            <a:avLst/>
          </a:prstGeom>
          <a:solidFill>
            <a:srgbClr val="E0405A"/>
          </a:solidFill>
          <a:ln w="12700">
            <a:solidFill>
              <a:srgbClr val="E040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8288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CONECTAR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4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14–20 sep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292608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Reto: que contratar a alguien para la casa sea seguro. Pregunta: ¿cómo garantizar que el trabajo quede bien hecho?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3355848" y="1828800"/>
            <a:ext cx="2606040" cy="548640"/>
          </a:xfrm>
          <a:prstGeom prst="rect">
            <a:avLst/>
          </a:prstGeom>
          <a:solidFill>
            <a:srgbClr val="1FA79A"/>
          </a:solidFill>
          <a:ln w="12700">
            <a:solidFill>
              <a:srgbClr val="1FA7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55848" y="18288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INVESTIGAR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355848" y="246888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38728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A7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sep – 7 oct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538728" y="292608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Empatizar con 28 encuestas y Definir el problema que más pesa.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163056" y="1828800"/>
            <a:ext cx="2606040" cy="548640"/>
          </a:xfrm>
          <a:prstGeom prst="rect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63056" y="18288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ACTUAR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163056" y="246888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45936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A9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5–27 oct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45936" y="292608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Idear 18 ideas, Prototipar la plataforma, Testear con 18 personas y mejorarla (versión 2).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8970264" y="1828800"/>
            <a:ext cx="2606040" cy="548640"/>
          </a:xfrm>
          <a:prstGeom prst="rect">
            <a:avLst/>
          </a:prstGeom>
          <a:solidFill>
            <a:srgbClr val="6B7489"/>
          </a:solidFill>
          <a:ln w="12700">
            <a:solidFill>
              <a:srgbClr val="6B748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70264" y="18288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REFLEXIONAR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970264" y="246888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53144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4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 oct – 5 nov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153144" y="292608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Canvas, lecciones aprendidas y este pitch.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48640" y="5074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512064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inventamos una necesidad nueva: el 90.5 % ya contrata por recomendación y el 100 % nunca usó una app. Innovamos cómo se hace, con la experiencia en obra de la firma como ventaja.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3252"/>
          </a:solidFill>
          <a:ln w="12700">
            <a:solidFill>
              <a:srgbClr val="2532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32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I · EL RETO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Tamaño del mercado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Estimación con el Censo 2018 y nuestra encuesta: cuánto se gasta al año en trabajos para el hogar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C0D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MERCADO TOTAL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2402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≈ Q 840 millones al año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937760" y="192024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750,000 hogares del departamento de Guatemala × 75 % que contrata al menos un trabajo al año × 1.5 trabajos × Q 1,000 por trabajo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280160" y="3200400"/>
            <a:ext cx="9601200" cy="1234440"/>
          </a:xfrm>
          <a:prstGeom prst="roundRect">
            <a:avLst>
              <a:gd name="adj" fmla="val 8889"/>
            </a:avLst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3337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CE4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MERCADO ALCANZABLE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54480" y="36118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≈ Q 210 millones al año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669280" y="329184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Hogares de nivel medio y medio-alto de la ciudad y municipios cercanos (≈ 25 %), el perfil de nuestras encuestas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011680" y="4572000"/>
            <a:ext cx="8138160" cy="1234440"/>
          </a:xfrm>
          <a:prstGeom prst="roundRect">
            <a:avLst>
              <a:gd name="adj" fmla="val 8889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86000" y="4709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META DEL PILOTO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286000" y="49834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≈ Q 0.9 millones al año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00800" y="466344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trabajos al mes (el punto de equilibrio) = 900 trabajos al año: menos del 0.5 % del mercado alcanzable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no hay un competidor digital consolidado: el 100 % de los encuestados nunca usó una app para esto. Estimación de orden de magnitud, a validar con datos oficiales por municipio.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A100"/>
          </a:solidFill>
          <a:ln w="12700">
            <a:solidFill>
              <a:srgbClr val="E0A1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1 · EMPATIZAR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Empatizar: la confianza es el problema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encuestas con el mapa de empatía · 21 contrataron un trabajo en el último año (n = 21)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87452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Perfil: adulto de 30 a 60 años (60.7 % entre 46 y 55), dueño de su casa (82.1 %) en la Ciudad de Guatemala o Mixco, con poco tiempo. Contrata 1 o 2 trabajos al año y paga entre Q 500 y Q 1,500.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33756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90.5 %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731520" y="4023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contrató por recomendación de un conocido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297680" y="32004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0" y="333756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100 %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4480560" y="4023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usó una app para esto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46720" y="32004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0" y="333756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57.2 %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8229600" y="4023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está tranquilo al dejar entrar a un desconocido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8006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93776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B3261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71.4 %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731520" y="56235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 que el trabajo quede mal hecho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297680" y="48006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0" y="493776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B3261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52.4 %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4480560" y="56235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vivió un trabajo mal hecho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46720" y="48006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493776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2733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80.9 %</a:t>
            </a:r>
            <a:endParaRPr lang="en-US" sz="3400" dirty="0"/>
          </a:p>
        </p:txBody>
      </p:sp>
      <p:sp>
        <p:nvSpPr>
          <p:cNvPr id="27" name="Text 25"/>
          <p:cNvSpPr/>
          <p:nvPr/>
        </p:nvSpPr>
        <p:spPr>
          <a:xfrm>
            <a:off x="8229600" y="56235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usaría una app con verificación, precio previo y garantía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B6FD0"/>
          </a:solidFill>
          <a:ln w="12700">
            <a:solidFill>
              <a:srgbClr val="7B6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2 · DEFINIR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 necesidades del cliente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una sale de un dato y de lo que nos contaron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7B6FD0"/>
          </a:solidFill>
          <a:ln w="12700">
            <a:solidFill>
              <a:srgbClr val="7B6F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828800"/>
            <a:ext cx="411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34440" y="182880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el trabajo quede bien hecho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212080" y="1828800"/>
            <a:ext cx="1280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71.4 %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583680" y="1828800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E6E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“Trabajo mal hecho se tuvo que hacer de nuevo.”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2697480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697480"/>
            <a:ext cx="411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234440" y="269748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Saber a quién le abre la puerta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12080" y="2697480"/>
            <a:ext cx="1280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90.5 %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583680" y="2697480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“Robaron.”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3566160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5F6FA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566160"/>
            <a:ext cx="411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234440" y="356616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alguien responda si sale mal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212080" y="3566160"/>
            <a:ext cx="1280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95.2 %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83680" y="3566160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“Llamando a otra persona para que lo arreglara.”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48640" y="4434840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434840"/>
            <a:ext cx="411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234440" y="443484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Saber cuánto costará antes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212080" y="4434840"/>
            <a:ext cx="1280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23.8 %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6583680" y="4434840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 quedó conforme lo pactado.”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48640" y="5303520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5F6FA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5303520"/>
            <a:ext cx="411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234440" y="530352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terminen a tiempo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212080" y="5303520"/>
            <a:ext cx="1280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14.3 %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6583680" y="5303520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“Tuve que darle almuerzo y desayuno para que no se fuera.”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548640" y="62179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común: el cliente no puede saber si el trabajador es bueno antes de contratarlo, ni a quién reclamarle después.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B6FD0"/>
          </a:solidFill>
          <a:ln w="12700">
            <a:solidFill>
              <a:srgbClr val="7B6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2 · DEFINIR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Definir: el problema que elegimos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+ necesidad = problema · priorizados con 4 criterios de 1 a 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03504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16052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Problema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Puntaje (de 20)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FD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P1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B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puede saber si el trabajador es bueno antes de contratarlo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B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B6FD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20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B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P2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depende de que un conocido le recomiende a alguien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B6FD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19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P3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Nadie responde si sale mal y paga dos veces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B6FD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17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P4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hay precio ni alcance claros antes de empezar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B6FD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14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P5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terminan en el tiempo acordado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B6FD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11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470916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Frecuencia, intensidad, alcance y capacidad de la firma. P4 y P5 quedaron al final: creíamos que serían lo más importante.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858000" y="1828800"/>
            <a:ext cx="4754880" cy="2743200"/>
          </a:xfrm>
          <a:prstGeom prst="roundRect">
            <a:avLst>
              <a:gd name="adj" fmla="val 4000"/>
            </a:avLst>
          </a:prstGeom>
          <a:solidFill>
            <a:srgbClr val="7B6FD0"/>
          </a:solidFill>
          <a:ln w="12700">
            <a:solidFill>
              <a:srgbClr val="7B6FD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086600" y="1920240"/>
            <a:ext cx="4297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¿Cómo podríamos garantizar que un trabajo del hogar quede bien hecho desde la primera vez, para que las familias de la Ciudad de Guatemala dejen de depender de la suerte y de la recomendación de un conocido?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6858000" y="4754880"/>
            <a:ext cx="4754880" cy="1554480"/>
          </a:xfrm>
          <a:prstGeom prst="roundRect">
            <a:avLst>
              <a:gd name="adj" fmla="val 7059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86600" y="4846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Supuestos que los datos tumbaron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086600" y="516636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 eligió “pagar con tarjeta” o “rapidez” · 61.9 % no pagaría más de 10 % extra · 76.2 % contrata solo 1 o 2 trabajos al año.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3 · IDEAR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Idear: 18 ideas, 4 ganadoras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ideas por integrante con SCAMPER y Pensar PO, clasificadas en la matriz de innovación contra costo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E6F5EC"/>
          </a:solidFill>
          <a:ln w="12700">
            <a:solidFill>
              <a:srgbClr val="E6F5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65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733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GANADORAS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Innovadoras y fáciles de hacer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260604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Carné con QR ★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Cotización por foto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Calificación doble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Garantía escrita ★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91840" y="260604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Pago retenido ★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Perfil con trabajos ★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Diagnóstico y luego precio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Diagnóstico por videollamada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2200" y="182880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BE8F1"/>
          </a:solidFill>
          <a:ln w="12700">
            <a:solidFill>
              <a:srgbClr val="FBE8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965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0" y="2286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Innovadoras pero costosas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0" y="260604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Arquitecto en todos los trabajos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Que responda Handyman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915400" y="260604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Membresía anual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Fondo de garantía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06908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206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6B74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PÉRDIDA DE TIEMPO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77240" y="45262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 innovadoras y costosas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77240" y="484632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Vender los materiales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Contratos con condominios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291840" y="484632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Base de precios para la firma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Quitar la búsqueda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172200" y="406908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DEBE9"/>
          </a:solidFill>
          <a:ln w="12700">
            <a:solidFill>
              <a:srgbClr val="FDEB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0" y="4206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BASURA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00800" y="45262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respaldo en los datos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00800" y="484632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Quitar el efectivo (52.4 % ya transfiere)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915400" y="484632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Descuento si llega tarde (14.3 %)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Las 4 elegidas para empezar. SCAMPER: Sustituir, Combinar, Adaptar, Modificar, Poner en otro uso, Eliminar, Reordenar. Pensar PO: llevar un supuesto a su contrario.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3 · IDEAR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solución y quién la usa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“Profesionales verificados en tu casa, con precio acordado antes de empezar y garantía por escrito.”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920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 Carné con QR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quién entra: identidad y antecedentes verificados.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55848" y="182880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8728" y="1920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 Perfil con trabajos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38728" y="23774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si sabe hacerlo: fotos, años y calificaciones.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63056" y="182880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5936" y="1920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 Garantía escrita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45936" y="23774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30 a 90 días según el oficio, respaldada por la firma.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970264" y="182880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53144" y="1920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 Pago retenido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53144" y="23774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libera solo cuando el cliente aprueba.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749040"/>
            <a:ext cx="109728" cy="777240"/>
          </a:xfrm>
          <a:prstGeom prst="rect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37490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CLIENTE · quien paga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931920" y="3749040"/>
            <a:ext cx="7543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 con fotos o toca “Emergencia” → compara y chatea → paga (retenido) → escanea el QR → aprueba y recibe su garantía.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645152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645152"/>
            <a:ext cx="109728" cy="777240"/>
          </a:xfrm>
          <a:prstGeom prst="rect">
            <a:avLst/>
          </a:prstGeom>
          <a:solidFill>
            <a:srgbClr val="1F9E7A"/>
          </a:solidFill>
          <a:ln w="12700">
            <a:solidFill>
              <a:srgbClr val="1F9E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4645152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PROFESIONAL · usuario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931920" y="4645152"/>
            <a:ext cx="7543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registra con DPI y antecedentes → recibe su carné QR → cotiza solicitudes de su zona → trabaja y cobra al aprobarse.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5541264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5541264"/>
            <a:ext cx="109728" cy="77724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" y="5541264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HANDYMAN · la firma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931920" y="5541264"/>
            <a:ext cx="7543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Verifica, retiene el pago, atiende soporte con tiempo de respuesta y media si algo sale mal.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9E7A"/>
          </a:solidFill>
          <a:ln w="12700">
            <a:solidFill>
              <a:srgbClr val="1F9E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4 · PROTOTIPAR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Prototipar: una plataforma web que ya funciona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una maqueta: un MVP en línea con datos reales que cualquiera puede probar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21208" y="1801368"/>
            <a:ext cx="4626864" cy="2907792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9" name="Image 0" descr="/Users/Mateo/Developer/.tools/lean/img/01_inic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28800"/>
            <a:ext cx="4572000" cy="285292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 público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21808" y="1801368"/>
            <a:ext cx="3118104" cy="1975104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12" name="Image 1" descr="/Users/Mateo/Developer/.tools/lean/img/11_comparar_cotizacion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49240" y="1828800"/>
            <a:ext cx="3063240" cy="19202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49240" y="382219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cotizaciones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567928" y="1801368"/>
            <a:ext cx="3072384" cy="1938528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15" name="Image 2" descr="/Users/Mateo/Developer/.tools/lean/img/16_garantia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95360" y="1828800"/>
            <a:ext cx="3017520" cy="188366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595360" y="37856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 escrita y reclamos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5349240" y="4160520"/>
            <a:ext cx="6263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oficios y 3 tipos de cuenta: cliente, profesional y administración.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completo: solicitud → cotizaciones → orden → QR → fotos → aprobación o reclamo → garantía.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documentos, auditoría de cada decisión y pagos simulados (DEMO).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548640" y="5074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handyman-gt.vercel.app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277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5 · TESTEAR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Testear: 18 personas probaron el prototipo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Entrevistas grabadas · 4 preguntas abiertas · cada hallazgo se convirtió en un cambio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5669280" cy="749808"/>
          </a:xfrm>
          <a:prstGeom prst="roundRect">
            <a:avLst>
              <a:gd name="adj" fmla="val 1463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28800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277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77.8 %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057400" y="1828800"/>
            <a:ext cx="4069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 que Handyman se involucre si algo sale mal (atención rápida y mediación)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309360" y="2039112"/>
            <a:ext cx="411480" cy="329184"/>
          </a:xfrm>
          <a:prstGeom prst="rightArrow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12280" y="1828800"/>
            <a:ext cx="4800600" cy="749808"/>
          </a:xfrm>
          <a:prstGeom prst="roundRect">
            <a:avLst>
              <a:gd name="adj" fmla="val 14634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95160" y="182880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soporte con agente, tiempo de respuesta y mediación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2697480"/>
            <a:ext cx="5669280" cy="749808"/>
          </a:xfrm>
          <a:prstGeom prst="roundRect">
            <a:avLst>
              <a:gd name="adj" fmla="val 1463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697480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277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41.2 %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057400" y="2697480"/>
            <a:ext cx="4069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quiere ver referencias e historial del profesional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309360" y="2907792"/>
            <a:ext cx="411480" cy="329184"/>
          </a:xfrm>
          <a:prstGeom prst="rightArrow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12280" y="2697480"/>
            <a:ext cx="4800600" cy="749808"/>
          </a:xfrm>
          <a:prstGeom prst="roundRect">
            <a:avLst>
              <a:gd name="adj" fmla="val 14634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95160" y="269748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con trabajos; referencias verificadas en la hoja de ruta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566160"/>
            <a:ext cx="5669280" cy="749808"/>
          </a:xfrm>
          <a:prstGeom prst="roundRect">
            <a:avLst>
              <a:gd name="adj" fmla="val 1463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566160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277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29.4 %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2057400" y="3566160"/>
            <a:ext cx="4069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quiere ver el avance y hablar con el profesional (17.6 %)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09360" y="3776472"/>
            <a:ext cx="411480" cy="329184"/>
          </a:xfrm>
          <a:prstGeom prst="rightArrow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12280" y="3566160"/>
            <a:ext cx="4800600" cy="749808"/>
          </a:xfrm>
          <a:prstGeom prst="roundRect">
            <a:avLst>
              <a:gd name="adj" fmla="val 14634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95160" y="356616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tipo WhatsApp con avisos de cada paso y botón Llamar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4434840"/>
            <a:ext cx="5669280" cy="749808"/>
          </a:xfrm>
          <a:prstGeom prst="roundRect">
            <a:avLst>
              <a:gd name="adj" fmla="val 1463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4434840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277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22.2 %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2057400" y="4434840"/>
            <a:ext cx="4069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un diseño más visual y otro 22.2 % que sea más fácil de usar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4645152"/>
            <a:ext cx="411480" cy="329184"/>
          </a:xfrm>
          <a:prstGeom prst="rightArrow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12280" y="4434840"/>
            <a:ext cx="4800600" cy="749808"/>
          </a:xfrm>
          <a:prstGeom prst="roundRect">
            <a:avLst>
              <a:gd name="adj" fmla="val 14634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95160" y="443484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simple, tutorial, ayuda “?” y letra grande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8640" y="5303520"/>
            <a:ext cx="5669280" cy="749808"/>
          </a:xfrm>
          <a:prstGeom prst="roundRect">
            <a:avLst>
              <a:gd name="adj" fmla="val 1463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5303520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277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“No hay”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2057400" y="5303520"/>
            <a:ext cx="4069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hay profesional disponible, el cliente se va a buscar a otro lado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309360" y="5513832"/>
            <a:ext cx="411480" cy="329184"/>
          </a:xfrm>
          <a:prstGeom prst="rightArrow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812280" y="5303520"/>
            <a:ext cx="4800600" cy="749808"/>
          </a:xfrm>
          <a:prstGeom prst="roundRect">
            <a:avLst>
              <a:gd name="adj" fmla="val 14634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95160" y="530352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Carril de urgencias con llegada estimada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48640" y="6217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7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plataforma sí genera confianza: nadie pidió quitar funciones y el 33.3 % no le cambiaría nada.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ITERACIÓN · PROTOTIPO MEJORADO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Prototipo mejorado: versión 2 en línea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cambios construidos a partir de las entrevistas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21208" y="1801368"/>
            <a:ext cx="4261104" cy="2688336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9" name="Image 0" descr="/Users/Mateo/Developer/.tools/lean/img/10_cliente_inic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28800"/>
            <a:ext cx="4206240" cy="2633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453542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Inicio simple: Emergencia o Planificar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956048" y="1801368"/>
            <a:ext cx="3300984" cy="2084832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12" name="Image 1" descr="/Users/Mateo/Developer/.tools/lean/img/14_emergenci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983480" y="1828800"/>
            <a:ext cx="3246120" cy="202996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983480" y="39319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Carril de urgencias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385048" y="1801368"/>
            <a:ext cx="3255264" cy="2057400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15" name="Image 2" descr="/Users/Mateo/Developer/.tools/lean/img/30_centro_soport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412480" y="1828800"/>
            <a:ext cx="3200400" cy="200253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12480" y="39044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Centro de soporte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956048" y="4224528"/>
            <a:ext cx="3300984" cy="2084832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18" name="Image 3" descr="/Users/Mateo/Developer/.tools/lean/img/13_chat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983480" y="4251960"/>
            <a:ext cx="3246120" cy="202996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4983480" y="63550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Mensajería y E · Llamar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21208" y="4727448"/>
            <a:ext cx="969264" cy="1655064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21" name="Image 4" descr="/Users/Mateo/Developer/.tools/lean/img/17_cliente_movil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48640" y="4754880"/>
            <a:ext cx="914400" cy="16002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8458200" y="4297680"/>
            <a:ext cx="292608" cy="292608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8458200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1100" dirty="0"/>
          </a:p>
        </p:txBody>
      </p:sp>
      <p:sp>
        <p:nvSpPr>
          <p:cNvPr id="24" name="Text 17"/>
          <p:cNvSpPr/>
          <p:nvPr/>
        </p:nvSpPr>
        <p:spPr>
          <a:xfrm>
            <a:off x="8869680" y="425196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Mensajería tipo WhatsApp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8458200" y="4709160"/>
            <a:ext cx="292608" cy="292608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845820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1100" dirty="0"/>
          </a:p>
        </p:txBody>
      </p:sp>
      <p:sp>
        <p:nvSpPr>
          <p:cNvPr id="27" name="Text 20"/>
          <p:cNvSpPr/>
          <p:nvPr/>
        </p:nvSpPr>
        <p:spPr>
          <a:xfrm>
            <a:off x="8869680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soporte y mediación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8458200" y="5120640"/>
            <a:ext cx="292608" cy="292608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845820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8869680" y="50749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Urgencias con evaluador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8458200" y="5532120"/>
            <a:ext cx="292608" cy="292608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8458200" y="5532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8869680" y="54864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más simple</a:t>
            </a:r>
            <a:endParaRPr lang="en-US" sz="1300" dirty="0"/>
          </a:p>
        </p:txBody>
      </p:sp>
      <p:sp>
        <p:nvSpPr>
          <p:cNvPr id="34" name="Shape 27"/>
          <p:cNvSpPr/>
          <p:nvPr/>
        </p:nvSpPr>
        <p:spPr>
          <a:xfrm>
            <a:off x="8458200" y="5943600"/>
            <a:ext cx="292608" cy="292608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458200" y="5943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n-US" sz="1100" dirty="0"/>
          </a:p>
        </p:txBody>
      </p:sp>
      <p:sp>
        <p:nvSpPr>
          <p:cNvPr id="36" name="Text 29"/>
          <p:cNvSpPr/>
          <p:nvPr/>
        </p:nvSpPr>
        <p:spPr>
          <a:xfrm>
            <a:off x="8869680" y="58978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Llamadas por línea</a:t>
            </a:r>
            <a:endParaRPr lang="en-US" sz="1300" dirty="0"/>
          </a:p>
        </p:txBody>
      </p:sp>
      <p:sp>
        <p:nvSpPr>
          <p:cNvPr id="37" name="Text 30"/>
          <p:cNvSpPr/>
          <p:nvPr/>
        </p:nvSpPr>
        <p:spPr>
          <a:xfrm>
            <a:off x="1600200" y="50292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también en el teléfono, con letra grande opcional.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Propuesta de valor y ventaja frente a la competencia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“Profesionales verificados en tu casa, con precio acordado antes de empezar y garantía por escrito.”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645920"/>
                <a:gridCol w="2103120"/>
                <a:gridCol w="164592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Boca a boca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Grupos de Facebook / WhatsApp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Servicios de tiendas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Handyman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54C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Identidad verificada y QR al llegar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trabajos anteriores y calificaciones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86E0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~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86E0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~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y alcance acordados antes de empezar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86E0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~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Pago retenido hasta aprobar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Garantía escrita y alguien que responde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86E0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~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Disponible cuando no hay a quién preguntar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53492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 distintiva: Artefacto Creativo tiene criterio de obra para saber si un trabajo quedó bien. Verificar identidades es papeleo que cualquiera puede copiar; juzgar la calidad técnica requiere años de experiencia.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de negocio en una página, construido con lo validado en cada fase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8" name="Image 0" descr="/Users/Mateo/Developer/.tools/lean/img/lean_canva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1106424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de venta, costos y punto de equilibrio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profesional cotiza; Handyman cobra 10 % de comisión y Q 15 de tarifa · trabajo promedio de Q 1,000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20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cliente paga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2402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 1,015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77240" y="28803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1,000 + Q 15 de tarifa (1.5 %), retenido hasta que aprueba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7680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3F5EF"/>
          </a:solidFill>
          <a:ln w="12700">
            <a:solidFill>
              <a:srgbClr val="E3F5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1920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profesional recibe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26280" y="22402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 900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526280" y="28803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1,000 menos 10 % de comisión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46720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75320" y="1920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6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Handyman ingresa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75320" y="22402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86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 115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275320" y="28803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100 de comisión + Q 15 de tarifa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94760"/>
            <a:ext cx="5486400" cy="2514600"/>
          </a:xfrm>
          <a:prstGeom prst="roundRect">
            <a:avLst>
              <a:gd name="adj" fmla="val 436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886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Costos fijos: Q 4,700 al mes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4251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de soporte medio tiempo (salario mínimo 2026) Q 3,000 · marketing Q 1,000 · plataforma Q 400 · contabilidad Q 300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77240" y="5074920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Variables: pasarela 4.5 % solo con tarjeta (≈ Q 32), fondo de garantía 2 % (Q 20), antecedentes de cada profesional y CAC menor a Q 50.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63640" y="3794760"/>
            <a:ext cx="5349240" cy="2514600"/>
          </a:xfrm>
          <a:prstGeom prst="roundRect">
            <a:avLst>
              <a:gd name="adj" fmla="val 4364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92240" y="39319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por trabajo: Q 115 − Q 32 − Q 20 = Q 63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92240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≈ 75 trabajos al mes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6492240" y="512064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equilibrio: Q 4,700 ÷ Q 63. Emergencias: visita a Q 150 fijo (Handyman retiene 25 %).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Canales y métricas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90.5 % contrata por recomendación, nuestros canales deben parecerse a una recomendación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Cómo llegamos a los primeros 100 clientes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240280"/>
            <a:ext cx="5486400" cy="594360"/>
          </a:xfrm>
          <a:prstGeom prst="roundRect">
            <a:avLst>
              <a:gd name="adj" fmla="val 18462"/>
            </a:avLst>
          </a:prstGeom>
          <a:solidFill>
            <a:srgbClr val="EDF1FD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2402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Condominios y edificios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926080" y="22402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en áreas comunes; dan volumen constante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926080"/>
            <a:ext cx="548640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9260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Referidos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926080" y="29260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50 de crédito por recomendar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611880"/>
            <a:ext cx="5486400" cy="594360"/>
          </a:xfrm>
          <a:prstGeom prst="roundRect">
            <a:avLst>
              <a:gd name="adj" fmla="val 18462"/>
            </a:avLst>
          </a:prstGeom>
          <a:solidFill>
            <a:srgbClr val="EDF1FD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6118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Google y Maps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926080" y="36118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“plomero zona 10”: necesidad en el momento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297680"/>
            <a:ext cx="548640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2976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Redes por zona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926080" y="42976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para 46 a 55 años con el mensaje de garantía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983480"/>
            <a:ext cx="5486400" cy="594360"/>
          </a:xfrm>
          <a:prstGeom prst="roundRect">
            <a:avLst>
              <a:gd name="adj" fmla="val 18462"/>
            </a:avLst>
          </a:prstGeom>
          <a:solidFill>
            <a:srgbClr val="EDF1FD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49834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Arquitectos e ingenieros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926080" y="49834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de Artefacto Creativo (14.3 % recomienda así)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669280"/>
            <a:ext cx="548640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6692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Profesionales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926080" y="56692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INTECAP, ferreterías y obras de la firma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0936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Cómo sabremos si funciona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309360" y="2240280"/>
            <a:ext cx="2560320" cy="1234440"/>
          </a:xfrm>
          <a:prstGeom prst="roundRect">
            <a:avLst>
              <a:gd name="adj" fmla="val 8889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23500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&lt; 4 h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6492240" y="2926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cotización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006840" y="2240280"/>
            <a:ext cx="2560320" cy="1234440"/>
          </a:xfrm>
          <a:prstGeom prst="roundRect">
            <a:avLst>
              <a:gd name="adj" fmla="val 8889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89720" y="23500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≥ 35 %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9189720" y="2926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solicitudes que se vuelven orden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309360" y="3611880"/>
            <a:ext cx="2560320" cy="1234440"/>
          </a:xfrm>
          <a:prstGeom prst="roundRect">
            <a:avLst>
              <a:gd name="adj" fmla="val 8889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92240" y="37216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≥ 30 %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6492240" y="42976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recompra en 90 días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006840" y="3611880"/>
            <a:ext cx="2560320" cy="1234440"/>
          </a:xfrm>
          <a:prstGeom prst="roundRect">
            <a:avLst>
              <a:gd name="adj" fmla="val 8889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89720" y="37216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&lt; 5 %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9189720" y="42976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órdenes con reclamo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309360" y="4983480"/>
            <a:ext cx="2560320" cy="1234440"/>
          </a:xfrm>
          <a:prstGeom prst="roundRect">
            <a:avLst>
              <a:gd name="adj" fmla="val 8889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92240" y="50932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&lt; 60 min</a:t>
            </a:r>
            <a:endParaRPr lang="en-US" sz="2400" dirty="0"/>
          </a:p>
        </p:txBody>
      </p:sp>
      <p:sp>
        <p:nvSpPr>
          <p:cNvPr id="42" name="Text 40"/>
          <p:cNvSpPr/>
          <p:nvPr/>
        </p:nvSpPr>
        <p:spPr>
          <a:xfrm>
            <a:off x="6492240" y="5669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llegada en emergencias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9006840" y="4983480"/>
            <a:ext cx="2560320" cy="1234440"/>
          </a:xfrm>
          <a:prstGeom prst="roundRect">
            <a:avLst>
              <a:gd name="adj" fmla="val 8889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89720" y="50932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 / mes</a:t>
            </a:r>
            <a:endParaRPr lang="en-US" sz="2400" dirty="0"/>
          </a:p>
        </p:txBody>
      </p:sp>
      <p:sp>
        <p:nvSpPr>
          <p:cNvPr id="45" name="Text 43"/>
          <p:cNvSpPr/>
          <p:nvPr/>
        </p:nvSpPr>
        <p:spPr>
          <a:xfrm>
            <a:off x="9189720" y="5669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trabajos (equilibrio)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Reflexión: ¿por qué funciona y cómo lo sabemos?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preguntas del planificador de ABR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E6F5EC"/>
          </a:solidFill>
          <a:ln w="12700">
            <a:solidFill>
              <a:srgbClr val="E6F5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7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fue efectiva la solución? Porque ataca el problema que la gente nombró, no el que suponíamos: 80.9 % usaría una app con verificación, precio previo y garantía, y al probar el prototipo nadie pidió quitarle funciones (33.3 % no le cambiaría nada).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3246120"/>
            <a:ext cx="3520440" cy="3063240"/>
          </a:xfrm>
          <a:prstGeom prst="roundRect">
            <a:avLst>
              <a:gd name="adj" fmla="val 35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3832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 que aprendimos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" y="384048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Enamorarnos del problema, no de la solución.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Dejar que los datos decidan: “pagar con tarjeta” y “rapidez” sacaron 0 %.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Prototipar rápido y probar con personas reales.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297680" y="3246120"/>
            <a:ext cx="3520440" cy="3063240"/>
          </a:xfrm>
          <a:prstGeom prst="roundRect">
            <a:avLst>
              <a:gd name="adj" fmla="val 3582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33832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quién impactamos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26280" y="384048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personas que nos dieron su tiempo: 28 en la encuesta y 18 en las pruebas.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Hogares que hoy contratan a ciegas.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Técnicos independientes que ganan clientes y un perfil verificado.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46720" y="3246120"/>
            <a:ext cx="3520440" cy="3063240"/>
          </a:xfrm>
          <a:prstGeom prst="roundRect">
            <a:avLst>
              <a:gd name="adj" fmla="val 35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75320" y="33832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Cómo nos prepara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75320" y="384048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antes de invertir: el Lean Canvas como hipótesis.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 en equipo con roles por fase.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una empresa tradicional en un negocio digital.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Próximos pasos: del prototipo a un piloto real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a la idea priorizadas con lo que pidieron las personas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5F6FA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82880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463040" y="182880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Piloto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0" y="182880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condominios de zonas 10 a 16 y 6 profesionales “disponibles ahora”. Meta: 75 trabajos al mes.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944368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944368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463040" y="294436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Más cobertura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0" y="2944368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Zonas por departamento con lista de espera, empezando por Xela, y categoría de electrodomésticos.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059936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5F6FA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059936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463040" y="4059936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Más confianza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4059936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Referencias verificadas por teléfono y garantía de reemplazo con otro profesional sin costo.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175504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175504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1463040" y="5175504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Listo para clientes reales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0" y="5175504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Pasarela de pagos, verificación externa de antecedentes, números enmascarados y términos legales.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¡Gracias!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731520" y="25603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Prueba Handyman en tu teléfono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329184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Cliente: cliente@handyman.demo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Profesional: plomero@handyman.demo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Administración: admin@handyman.demo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Contraseña de las cuentas demo: Handyman2026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F9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simulados y datos ficticios: es un MVP académico.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38160" y="1371600"/>
            <a:ext cx="3291840" cy="38404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/Users/Mateo/Developer/.tools/lean/img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1600200"/>
            <a:ext cx="2743200" cy="2743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138160" y="45262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handyman-gt.vercel.app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Artefacto Creativo, S.A.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Handyman · Presentación final</dc:title>
  <dc:subject>PptxGenJS Presentation</dc:subject>
  <dc:creator>PptxGenJS</dc:creator>
  <cp:lastModifiedBy>PptxGenJS</cp:lastModifiedBy>
  <cp:revision>1</cp:revision>
  <dcterms:created xsi:type="dcterms:W3CDTF">2026-10-28T23:31:30Z</dcterms:created>
  <dcterms:modified xsi:type="dcterms:W3CDTF">2026-10-28T23:31:30Z</dcterms:modified>
</cp:coreProperties>
</file>