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03120" y="1097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LEAN CANVAS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457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hogares con profesionales verificados del mantenimiento · Ciudad de Guatemala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274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Empresarial y Fundamentos de Emprendimiento · URL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328611" cy="425196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5156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03327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PROBLEMA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1371600"/>
            <a:ext cx="2182307" cy="2240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Inseguridad: abrir la casa a un desconocido sin saber quién es ni si tiene antecedentes.</a:t>
            </a:r>
            <a:endParaRPr lang="en-US" sz="900" dirty="0"/>
          </a:p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a ciegas: no sé cuánto debería costar; aparecen cobros extra a mitad del trabajo.</a:t>
            </a:r>
            <a:endParaRPr lang="en-US" sz="900" dirty="0"/>
          </a:p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queda mal, no hay a quién reclamar: el técnico no vuelve y no hay garantía. En una emergencia (fuga, corto), no encuentro a nadie rápido.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657600"/>
            <a:ext cx="2145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ALTERNATIVAS HOY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3867912"/>
            <a:ext cx="2182307" cy="1325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 y grupos de WhatsApp del condominio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maestro de siempre” (si está disponible)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Facebook y anuncios en postes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 instalación de tiendas (caros y limitados)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602931" y="960120"/>
            <a:ext cx="2328611" cy="212598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94371" y="105156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4371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4411" y="103327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76083" y="1371600"/>
            <a:ext cx="2182307" cy="16687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 con identidad y antecedentes verificados; carné con QR que el cliente escanea al llegar.</a:t>
            </a:r>
            <a:endParaRPr lang="en-US" sz="900" dirty="0"/>
          </a:p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Cotizaciones comparables, precio y alcance congelados y pago retenido hasta aprobar con fotos.</a:t>
            </a:r>
            <a:endParaRPr lang="en-US" sz="900" dirty="0"/>
          </a:p>
          <a:p>
            <a:pPr marL="165100" indent="-1651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escrita (30–90 días), soporte con agente y mediación, y botón de emergencia.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2931" y="3086100"/>
            <a:ext cx="2328611" cy="212598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4371" y="317754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94371" y="3177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014411" y="315925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MÉTRICAS CLAVE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76083" y="3497580"/>
            <a:ext cx="2182307" cy="16687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con 1.ª cotización en &lt; 4 h (liquidez)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solicitud → orden (meta ≥ 35 %)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a 90 días (meta ≥ 30 %)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&lt; 5 % de órdenes; 90 % resueltos en plazo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Llegada en emergencias &lt; 60 min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&lt; Q 50 (se recupera con la 1.ª orden)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931542" y="960120"/>
            <a:ext cx="2328611" cy="425196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2982" y="105156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2982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3022" y="103327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ÚNICA DE VALOR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68702" y="1463040"/>
            <a:ext cx="2054291" cy="146304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32710" y="1508760"/>
            <a:ext cx="192627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“Profesionales verificados en tu casa, con precio acordado antes de empezar y garantía por escrito.”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41270" y="3017520"/>
            <a:ext cx="2109155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quién entra (QR), cuánto vas a pagar (cotización congelada) y a quién acudir si algo falla (agente y garantía). Tu dinero se libera solo cuando apruebas el trabajo.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41270" y="4343400"/>
            <a:ext cx="210915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B86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Concepto: “la tranquilidad de un maestro de confianza, con respaldo de una empresa”.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60153" y="960120"/>
            <a:ext cx="2328611" cy="212598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51593" y="105156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51593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671633" y="103327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VENTAJA ESPECIAL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33305" y="1371600"/>
            <a:ext cx="2182307" cy="13487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local de profesionales verificados con historial de reseñas y garantías cumplidas (efecto de red por zona).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propios de precios reales por oficio y zona.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Respaldo de Artefacto Creativo, S.A.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69881" y="2702052"/>
            <a:ext cx="210915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está en construcción: se vuelve defendible con volumen.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60153" y="3086100"/>
            <a:ext cx="2328611" cy="212598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51593" y="317754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51593" y="31775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71633" y="315925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CANALES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33305" y="3497580"/>
            <a:ext cx="2182307" cy="16687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Alianzas con administraciones de condominios y edificios (QR en áreas comunes, comunicado a residentes).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Búsqueda y Maps (“plomero zona 10”) y Meta Ads por zona.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Referidos: Q 50 de crédito por recomendar. WhatsApp Business.</a:t>
            </a:r>
            <a:endParaRPr lang="en-US" sz="850" dirty="0"/>
          </a:p>
          <a:p>
            <a:pPr marL="139700" indent="-139700">
              <a:spcAft>
                <a:spcPts val="15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Profesionales: INTECAP, ferreterías y distribuidoras de materiales.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588764" y="960120"/>
            <a:ext cx="2328611" cy="4251960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80204" y="1051560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80204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0000244" y="1033272"/>
            <a:ext cx="187141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SEGMENTO DE CLIENTES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661916" y="1371600"/>
            <a:ext cx="2182307" cy="22402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hogares de nivel medio y medio-alto de la Ciudad de Guatemala (zonas 10, 14, 15, 16 y Carretera a El Salvador), decisores de 30 a 60 años con poco tiempo.</a:t>
            </a:r>
            <a:endParaRPr lang="en-US" sz="90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9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Profesionales: técnicos independientes con experiencia (plomería, electricidad, cerrajería…) que buscan clientes formales.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698492" y="3657600"/>
            <a:ext cx="21457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EARLY ADOPTERS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9661916" y="3867912"/>
            <a:ext cx="2182307" cy="13258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Residentes de condominios y apartamentos recién mudados, sin “su maestro”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de 45–60 años que ya vivieron una mala experiencia con un técnico</a:t>
            </a:r>
            <a:endParaRPr lang="en-US" sz="850" dirty="0"/>
          </a:p>
          <a:p>
            <a:pPr marL="139700" indent="-139700">
              <a:spcAft>
                <a:spcPts val="3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Administradores de condominios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5285232"/>
            <a:ext cx="5821528" cy="1389888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5376672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5800" y="5358384"/>
            <a:ext cx="536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ESTRUCTURA DE COSTOS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11480" y="5669280"/>
            <a:ext cx="2819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Fijos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5852160"/>
            <a:ext cx="2773604" cy="7863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hosting, base de datos, dominio, mensajería (SMS/WhatsApp)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soporte y verificación (1–2 agentes)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constitución, términos, protección de datos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30804" y="5669280"/>
            <a:ext cx="2819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3261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Variables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185084" y="5852160"/>
            <a:ext cx="2773604" cy="7863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Pasarela de pago (≈ 4 % por transacción)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y adquisición (CAC)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penales y policíacos por profesional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garantía: 2 % de cada orden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95848" y="5285232"/>
            <a:ext cx="5821528" cy="1389888"/>
          </a:xfrm>
          <a:prstGeom prst="rect">
            <a:avLst/>
          </a:prstGeom>
          <a:solidFill>
            <a:srgbClr val="FFFFFF"/>
          </a:solidFill>
          <a:ln w="22225">
            <a:solidFill>
              <a:srgbClr val="25325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87288" y="5376672"/>
            <a:ext cx="274320" cy="2743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87288" y="5376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507328" y="5358384"/>
            <a:ext cx="536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54C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FLUJO DE INGRESOS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233008" y="5669280"/>
            <a:ext cx="2819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lanzamiento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187288" y="5852160"/>
            <a:ext cx="2773604" cy="7863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del 10 % al profesional por trabajo pagado en la plataforma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de servicio y garantía al cliente: Q 15 por orden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Emergencias: visita a Q 150 fijo (25 % para Handyman)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9052331" y="5669280"/>
            <a:ext cx="28193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273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Después (6+ meses)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9006611" y="5852160"/>
            <a:ext cx="2773604" cy="786384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“Profesional destacado”: Q 199 al mes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Membresía hogar con mantenimiento preventivo</a:t>
            </a:r>
            <a:endParaRPr lang="en-US" sz="850" dirty="0"/>
          </a:p>
          <a:p>
            <a:pPr marL="139700" indent="-139700">
              <a:spcAft>
                <a:spcPts val="100"/>
              </a:spcAft>
              <a:buSzPct val="100000"/>
              <a:buChar char="●"/>
            </a:pPr>
            <a:r>
              <a:rPr lang="en-US" sz="8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con condominios y oficinas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74320" y="6675120"/>
            <a:ext cx="1164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llenado sugerido: 1 Problema → 2 Clientes → 3 Propuesta → 4 Solución → 5 Canales → 6 Ingresos → 7 Costos → 8 Métricas → 9 Ventaja. Horizonte: próximos 3 a 6 meses.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03120" y="1097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Cada bloque es una hipótesis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457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“Creemos que…” → cómo lo probamos → qué número lo confirma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274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Empresarial y Fundamentos de Emprendimiento · URL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1145743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66160"/>
                <a:gridCol w="3749040"/>
                <a:gridCol w="29077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Bloque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Creemos que…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Cómo lo probamos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Criterio de éxito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4C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la mayor barrera para contratar un técnico es la desconfianza, más que el precio.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Validado en parte: 4 de 4 entrevistados valoraron la confianza, el perfil y la garantía. Ampliar a 20 entrevistas en condominios.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70 % menciona seguridad o garantía entre sus 2 principales preocupaciones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Clientes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los residentes de condominios de zonas 10 a 16 son los primeros en adoptar.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con 2 administraciones de condominio: QR en áreas comunes y comunicado a residentes.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8 % de los hogares del condominio publica una solicitud en 30 días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Propuesta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“precio acordado + garantía escrita” convence más que “el más barato”.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 A/B de anuncios en Meta: mensaje de garantía vs. mensaje de precio.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mensaje de garantía logra ≥ 30 % más clics a solicitud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Solución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el QR al llegar y el pago retenido reducen el miedo a abrir la puerta.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 corta al cerrar cada orden del piloto.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 dice sentirse “más seguro que con un técnico recomendado”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Ingresos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el cliente acepta pagar Q 15 por la garantía y el profesional ceder 10 %.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Cobrar desde la primera orden del piloto y medir abandono en el pago.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Abandono en el pago &lt; 15 %; ≥ 70 % de profesionales sigue activo al 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Canales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los condominios y Google (búsqueda por zona) traen clientes más baratos que redes sociales.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Asignar el mismo presupuesto (Q 1,500) a cada canal durante 4 semanas.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 ganador con CAC &lt; Q 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Emergencias</a:t>
                      </a:r>
                      <a:endParaRPr lang="en-US" sz="95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Creemos que una visita a precio fijo con llegada en menos de 1 hora resuelve la urgencia.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34C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Activar emergencias de plomería y electricidad en 3 zonas, con 6 profesionales “disponibles ahora”.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27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80 % de emergencias con profesional asignado en &lt; 15 min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6263640"/>
            <a:ext cx="11457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piloto (3 a 6 meses): reemplazar estas suposiciones por hechos validados con clientes reales antes de invertir en expansión.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645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handy</a:t>
            </a:r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03120" y="1097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Economía de una orden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103120" y="457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del administrador: ¿cuánto deja cada trabajo y cuánto podemos gastar para conseguir un cliente?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778240" y="27432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99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Empresarial y Fundamentos de Emprendimiento · URL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0350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Trabajo promedio (precio acordado)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B1020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1000.00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Comisión Handyman (10 %)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100.00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 de servicio y garantía (cliente)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2733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15.00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Pasarela de pago (≈ 4 % de Q 1,015)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 Q 40.60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B1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 de garantía (2 % del trabajo)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B3261E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– Q 20.00</a:t>
                      </a:r>
                      <a:endParaRPr lang="en-US" sz="13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Margen de contribución por orden</a:t>
                      </a:r>
                      <a:endParaRPr lang="en-US" sz="14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5A524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 54.40</a:t>
                      </a:r>
                      <a:endParaRPr lang="en-US" sz="16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02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040880" y="123444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78040" y="12344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 54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915400" y="12344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orden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233172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78040" y="233172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Q 50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915400" y="23317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máximo para conseguir un cliente (CAC)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040880" y="342900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EDF1FD"/>
          </a:solidFill>
          <a:ln w="12700">
            <a:solidFill>
              <a:srgbClr val="EDF1F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342900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orden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915400" y="342900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el CAC: el 76.2 % contrata solo 1 o 2 trabajos al año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4526280"/>
            <a:ext cx="4572000" cy="914400"/>
          </a:xfrm>
          <a:prstGeom prst="roundRect">
            <a:avLst>
              <a:gd name="adj" fmla="val 12000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4526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02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≈ 75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915400" y="452628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al mes para cubrir Q 4,080 de costos fijos (punto de equilibrio)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34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del piloto (a validar): trabajo promedio de Q 1,000, porque el 47.6 % de la encuesta pagó entre Q 500 y Q 1,500 por su último trabajo; comisión de 10 %, porque el 61.9 % no pagaría más de 10 % extra; costos fijos de Q 4,080 al mes, porque el equipo y la oficina los aporta Artefacto Creativo. Las emergencias suman Q 37.50 por visita.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simulados en el MVP académico; las cifras son hipótesis para la validación.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Artefacto Creativo, S.A.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Canvas · Handyman</dc:title>
  <dc:subject>PptxGenJS Presentation</dc:subject>
  <dc:creator>PptxGenJS</dc:creator>
  <cp:lastModifiedBy>PptxGenJS</cp:lastModifiedBy>
  <cp:revision>1</cp:revision>
  <dcterms:created xsi:type="dcterms:W3CDTF">2026-10-28T00:39:34Z</dcterms:created>
  <dcterms:modified xsi:type="dcterms:W3CDTF">2026-10-28T00:39:34Z</dcterms:modified>
</cp:coreProperties>
</file>