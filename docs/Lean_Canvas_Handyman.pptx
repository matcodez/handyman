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LEAN CANVAS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que conecta hogares con profesionales verificados del mantenimiento · Ciudad de Guatemala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274320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365760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5760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685800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PROBLEMA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347472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Inseguridad: abrir la casa a un desconocido sin saber quién es ni si tiene antecedentes.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Precio a ciegas: no sé cuánto debería costar; aparecen cobros extra a mitad del trabajo.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queda mal, no hay a quién reclamar: el técnico no vuelve y no hay garantía. En una emergencia (fuga, corto), no encuentro a nadie rápido.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84048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ALTERNATIVAS HOY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347472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Boca a boca y grupos de WhatsApp del condominio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“El maestro de siempre” (si está disponible)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 de Facebook y anuncios en postes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Servicios de instalación de tiendas (caros y limitados)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602931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694371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2694371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4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014411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SOLUCIÓN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676083" y="137160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 con identidad y antecedentes verificados; carné con QR que el cliente escanea al llegar.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Cotizaciones comparables, precio y alcance congelados y pago retenido hasta aprobar con fotos.</a:t>
            </a:r>
            <a:endParaRPr lang="en-US" sz="900" dirty="0"/>
          </a:p>
          <a:p>
            <a:pPr marL="165100" indent="-165100">
              <a:spcAft>
                <a:spcPts val="3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Garantía escrita (30–90 días), soporte con agente y mediación, y botón de emergencia.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2602931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2694371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694371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8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3014411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MÉTRICAS CLAVE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2676083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Solicitudes con 1.ª cotización en &lt; 4 h (liquidez)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Conversión solicitud → orden (meta ≥ 35 %)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Recompra a 90 días (meta ≥ 30 %)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Reclamos &lt; 5 % de órdenes; 90 % resueltos en plazo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Llegada en emergencias &lt; 60 min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CAC &lt; Q 50 (se recupera con la 1.ª orden)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4931542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022982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5022982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3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5343022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PROPUESTA ÚNICA DE VALOR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068702" y="1463040"/>
            <a:ext cx="2054291" cy="146304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132710" y="1508760"/>
            <a:ext cx="1926275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“Profesionales verificados en tu casa, con precio acordado antes de empezar y garantía por escrito.”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41270" y="3017520"/>
            <a:ext cx="2109155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Sabes quién entra (QR), cuánto vas a pagar (cotización congelada) y a quién acudir si algo falla (agente y garantía). Tu dinero se libera solo cuando apruebas el trabajo.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5041270" y="4343400"/>
            <a:ext cx="2109155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i="1" dirty="0">
                <a:solidFill>
                  <a:srgbClr val="B86E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Concepto: “la tranquilidad de un maestro de confianza, con respaldo de una empresa”.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7260153" y="96012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7351593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7351593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9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7671633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VENTAJA ESPECIAL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7333305" y="1371600"/>
            <a:ext cx="2182307" cy="134874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local de profesionales verificados con historial de reseñas y garantías cumplidas (efecto de red por zona).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Datos propios de precios reales por oficio y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Respaldo de Artefacto Creativo, S.A.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7369881" y="2702052"/>
            <a:ext cx="2109155" cy="32918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Hoy está en construcción: se vuelve defendible con volumen.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7260153" y="3086100"/>
            <a:ext cx="2328611" cy="212598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7351593" y="317754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7351593" y="31775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5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7671633" y="315925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CANALES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7333305" y="3497580"/>
            <a:ext cx="2182307" cy="16687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Alianzas con administraciones de condominios y edificios (QR en áreas comunes, comunicado a residentes).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Búsqueda y Maps (“plomero zona 10”) y Meta Ads por zona.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Referidos: Q 50 de crédito por recomendar. WhatsApp Business.</a:t>
            </a:r>
            <a:endParaRPr lang="en-US" sz="850" dirty="0"/>
          </a:p>
          <a:p>
            <a:pPr marL="139700" indent="-139700">
              <a:spcAft>
                <a:spcPts val="15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INTECAP, ferreterías y distribuidoras de materiales.</a:t>
            </a:r>
            <a:endParaRPr lang="en-US" sz="850" dirty="0"/>
          </a:p>
        </p:txBody>
      </p:sp>
      <p:sp>
        <p:nvSpPr>
          <p:cNvPr id="43" name="Shape 41"/>
          <p:cNvSpPr/>
          <p:nvPr/>
        </p:nvSpPr>
        <p:spPr>
          <a:xfrm>
            <a:off x="9588764" y="960120"/>
            <a:ext cx="2328611" cy="4251960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9680204" y="1051560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9680204" y="1051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2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000244" y="1033272"/>
            <a:ext cx="1871411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SEGMENTO DE CLIENTES</a:t>
            </a:r>
            <a:endParaRPr lang="en-US" sz="1100" dirty="0"/>
          </a:p>
        </p:txBody>
      </p:sp>
      <p:sp>
        <p:nvSpPr>
          <p:cNvPr id="47" name="Text 45"/>
          <p:cNvSpPr/>
          <p:nvPr/>
        </p:nvSpPr>
        <p:spPr>
          <a:xfrm>
            <a:off x="9661916" y="1371600"/>
            <a:ext cx="2182307" cy="22402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Clientes: hogares de nivel medio y medio-alto de la Ciudad de Guatemala (zonas 10, 14, 15, 16 y Carretera a El Salvador), decisores de 30 a 60 años con poco tiempo.</a:t>
            </a:r>
            <a:endParaRPr lang="en-US" sz="90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9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Profesionales: técnicos independientes con experiencia (plomería, electricidad, cerrajería…) que buscan clientes formales.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9698492" y="3657600"/>
            <a:ext cx="2145731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EARLY ADOPTERS</a:t>
            </a:r>
            <a:endParaRPr lang="en-US" sz="850" dirty="0"/>
          </a:p>
        </p:txBody>
      </p:sp>
      <p:sp>
        <p:nvSpPr>
          <p:cNvPr id="49" name="Text 47"/>
          <p:cNvSpPr/>
          <p:nvPr/>
        </p:nvSpPr>
        <p:spPr>
          <a:xfrm>
            <a:off x="9661916" y="3867912"/>
            <a:ext cx="2182307" cy="1325880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Residentes de condominios y apartamentos recién mudados, sin “su maestro”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Personas de 45–60 años que ya vivieron una mala experiencia con un técnico</a:t>
            </a:r>
            <a:endParaRPr lang="en-US" sz="850" dirty="0"/>
          </a:p>
          <a:p>
            <a:pPr marL="139700" indent="-139700">
              <a:spcAft>
                <a:spcPts val="3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Administradores de condominios</a:t>
            </a:r>
            <a:endParaRPr lang="en-US" sz="850" dirty="0"/>
          </a:p>
        </p:txBody>
      </p:sp>
      <p:sp>
        <p:nvSpPr>
          <p:cNvPr id="50" name="Shape 48"/>
          <p:cNvSpPr/>
          <p:nvPr/>
        </p:nvSpPr>
        <p:spPr>
          <a:xfrm>
            <a:off x="274320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365760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365760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7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685800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ESTRUCTURA DE COSTOS</a:t>
            </a:r>
            <a:endParaRPr lang="en-US" sz="1100" dirty="0"/>
          </a:p>
        </p:txBody>
      </p:sp>
      <p:sp>
        <p:nvSpPr>
          <p:cNvPr id="54" name="Text 52"/>
          <p:cNvSpPr/>
          <p:nvPr/>
        </p:nvSpPr>
        <p:spPr>
          <a:xfrm>
            <a:off x="411480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Fijos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365760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Plataforma: hosting, base de datos, dominio, mensajería (SMS/WhatsApp)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Equipo de soporte y verificación (1–2 agentes)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Legal: constitución, términos, protección de datos</a:t>
            </a:r>
            <a:endParaRPr lang="en-US" sz="850" dirty="0"/>
          </a:p>
        </p:txBody>
      </p:sp>
      <p:sp>
        <p:nvSpPr>
          <p:cNvPr id="56" name="Text 54"/>
          <p:cNvSpPr/>
          <p:nvPr/>
        </p:nvSpPr>
        <p:spPr>
          <a:xfrm>
            <a:off x="3230804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B3261E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Variables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3185084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Pasarela de pago (4.5 % con tarjeta; transferencia sin costo)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y adquisición (CAC)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Antecedentes penales y policíacos por profesional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Fondo de garantía: 2 % de cada orden</a:t>
            </a:r>
            <a:endParaRPr lang="en-US" sz="850" dirty="0"/>
          </a:p>
        </p:txBody>
      </p:sp>
      <p:sp>
        <p:nvSpPr>
          <p:cNvPr id="58" name="Shape 56"/>
          <p:cNvSpPr/>
          <p:nvPr/>
        </p:nvSpPr>
        <p:spPr>
          <a:xfrm>
            <a:off x="6095848" y="5285232"/>
            <a:ext cx="5821528" cy="1389888"/>
          </a:xfrm>
          <a:prstGeom prst="rect">
            <a:avLst/>
          </a:prstGeom>
          <a:solidFill>
            <a:srgbClr val="FFFFFF"/>
          </a:solidFill>
          <a:ln w="22225">
            <a:solidFill>
              <a:srgbClr val="253252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187288" y="5376672"/>
            <a:ext cx="274320" cy="274320"/>
          </a:xfrm>
          <a:prstGeom prst="ellipse">
            <a:avLst/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60" name="Text 58"/>
          <p:cNvSpPr/>
          <p:nvPr/>
        </p:nvSpPr>
        <p:spPr>
          <a:xfrm>
            <a:off x="6187288" y="5376672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6</a:t>
            </a:r>
            <a:endParaRPr lang="en-US" sz="1000" dirty="0"/>
          </a:p>
        </p:txBody>
      </p:sp>
      <p:sp>
        <p:nvSpPr>
          <p:cNvPr id="61" name="Text 59"/>
          <p:cNvSpPr/>
          <p:nvPr/>
        </p:nvSpPr>
        <p:spPr>
          <a:xfrm>
            <a:off x="6507328" y="5358384"/>
            <a:ext cx="53643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154C8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FLUJO DE INGRESOS</a:t>
            </a:r>
            <a:endParaRPr lang="en-US" sz="1100" dirty="0"/>
          </a:p>
        </p:txBody>
      </p:sp>
      <p:sp>
        <p:nvSpPr>
          <p:cNvPr id="62" name="Text 60"/>
          <p:cNvSpPr/>
          <p:nvPr/>
        </p:nvSpPr>
        <p:spPr>
          <a:xfrm>
            <a:off x="6233008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Desde el lanzamiento</a:t>
            </a:r>
            <a:endParaRPr lang="en-US" sz="850" dirty="0"/>
          </a:p>
        </p:txBody>
      </p:sp>
      <p:sp>
        <p:nvSpPr>
          <p:cNvPr id="63" name="Text 61"/>
          <p:cNvSpPr/>
          <p:nvPr/>
        </p:nvSpPr>
        <p:spPr>
          <a:xfrm>
            <a:off x="6187288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Comisión del 10 % al profesional por trabajo pagado en la plataforma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Tarifa de servicio y garantía al cliente: Q 15 por orden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Emergencias: visita a Q 150 fijo (25 % para Handyman)</a:t>
            </a:r>
            <a:endParaRPr lang="en-US" sz="850" dirty="0"/>
          </a:p>
        </p:txBody>
      </p:sp>
      <p:sp>
        <p:nvSpPr>
          <p:cNvPr id="64" name="Text 62"/>
          <p:cNvSpPr/>
          <p:nvPr/>
        </p:nvSpPr>
        <p:spPr>
          <a:xfrm>
            <a:off x="9052331" y="5669280"/>
            <a:ext cx="281932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2733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Después (6+ meses)</a:t>
            </a:r>
            <a:endParaRPr lang="en-US" sz="850" dirty="0"/>
          </a:p>
        </p:txBody>
      </p:sp>
      <p:sp>
        <p:nvSpPr>
          <p:cNvPr id="65" name="Text 63"/>
          <p:cNvSpPr/>
          <p:nvPr/>
        </p:nvSpPr>
        <p:spPr>
          <a:xfrm>
            <a:off x="9006611" y="5852160"/>
            <a:ext cx="2773604" cy="786384"/>
          </a:xfrm>
          <a:prstGeom prst="rect">
            <a:avLst/>
          </a:prstGeom>
          <a:noFill/>
          <a:ln/>
        </p:spPr>
        <p:txBody>
          <a:bodyPr wrap="square" lIns="25400" tIns="25400" rIns="50800" bIns="25400" rtlCol="0" anchor="t"/>
          <a:lstStyle/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“Profesional destacado”: Q 199 al mes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Membresía hogar con mantenimiento preventivo</a:t>
            </a:r>
            <a:endParaRPr lang="en-US" sz="850" dirty="0"/>
          </a:p>
          <a:p>
            <a:pPr marL="139700" indent="-139700">
              <a:spcAft>
                <a:spcPts val="100"/>
              </a:spcAft>
              <a:buSzPct val="100000"/>
              <a:buChar char="●"/>
            </a:pPr>
            <a:r>
              <a:rPr lang="en-US" sz="8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Contratos con condominios y oficinas</a:t>
            </a:r>
            <a:endParaRPr lang="en-US" sz="850" dirty="0"/>
          </a:p>
        </p:txBody>
      </p:sp>
      <p:sp>
        <p:nvSpPr>
          <p:cNvPr id="66" name="Text 64"/>
          <p:cNvSpPr/>
          <p:nvPr/>
        </p:nvSpPr>
        <p:spPr>
          <a:xfrm>
            <a:off x="274320" y="6675120"/>
            <a:ext cx="1164031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Orden de llenado sugerido: 1 Problema → 2 Clientes → 3 Propuesta → 4 Solución → 5 Canales → 6 Ingresos → 7 Costos → 8 Métricas → 9 Ventaja. Horizonte: próximos 3 a 6 meses.</a:t>
            </a:r>
            <a:endParaRPr lang="en-US" sz="7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Cada bloque es una hipótesis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“Creemos que…” → cómo lo probamos → qué número lo confirma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1051560"/>
          <a:ext cx="11457432" cy="914400"/>
        </p:xfrm>
        <a:graphic>
          <a:graphicData uri="http://schemas.openxmlformats.org/drawingml/2006/table">
            <a:tbl>
              <a:tblPr/>
              <a:tblGrid>
                <a:gridCol w="1234440"/>
                <a:gridCol w="3566160"/>
                <a:gridCol w="3749040"/>
                <a:gridCol w="2907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Bloque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Creemos que…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Cómo lo probamos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Criterio de éxito</a:t>
                      </a:r>
                      <a:endParaRPr lang="en-US" sz="10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154C8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Problema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la mayor barrera para contratar un técnico es la desconfianza, más que el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Validado en parte: 4 de 4 entrevistados valoraron la confianza, el perfil y la garantía. Ampliar a 20 entrevistas en condominios.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70 % menciona seguridad o garantía entre sus 2 principales preocupaciones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Clientes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residentes de condominios de zonas 10 a 16 son los primeros en adoptar.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Piloto con 2 administraciones de condominio: QR en áreas comunes y comunicado a residentes.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8 % de los hogares del condominio publica una solicitud en 30 días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Propuesta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“precio acordado + garantía escrita” convence más que “el más barato”.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Prueba A/B de anuncios en Meta: mensaje de garantía vs. mensaje de precio.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mensaje de garantía logra ≥ 30 % más clics a solicitud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Solución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QR al llegar y el pago retenido reducen el miedo a abrir la puerta.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Encuesta corta al cerrar cada orden del piloto.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dice sentirse “más seguro que con un técnico recomendado”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Ingresos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el cliente acepta pagar Q 15 por la garantía y el profesional ceder 10 %.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Cobrar desde la primera orden del piloto y medir abandono en el pago.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Abandono en el pago &lt; 15 %; ≥ 70 % de profesionales sigue activo al mes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Canales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los condominios y Google (búsqueda por zona) traen clientes más baratos que redes sociales.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Asignar el mismo presupuesto (Q 1,500) a cada canal durante 4 semanas.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Canal ganador con CAC &lt; Q 50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Emergencias</a:t>
                      </a:r>
                      <a:endParaRPr lang="en-US" sz="95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Creemos que una visita a precio fijo con llegada en menos de 1 hora resuelve la urgencia.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dirty="0">
                          <a:solidFill>
                            <a:srgbClr val="434C6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Activar emergencias de plomería y electricidad en 3 zonas, con 6 profesionales “disponibles ahora”.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2733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80 % de emergencias con profesional asignado en &lt; 15 min</a:t>
                      </a:r>
                      <a:endParaRPr lang="en-US" sz="9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365760" y="6263640"/>
            <a:ext cx="11457432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del piloto (3 a 6 meses): reemplazar estas suposiciones por hechos validados con clientes reales antes de invertir en expansión.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822960"/>
          </a:xfrm>
          <a:prstGeom prst="rect">
            <a:avLst/>
          </a:prstGeom>
          <a:solidFill>
            <a:srgbClr val="0B1020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164592"/>
            <a:ext cx="18288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handy</a:t>
            </a:r>
            <a:pPr indent="0" marL="0">
              <a:buNone/>
            </a:pPr>
            <a:r>
              <a:rPr lang="en-US" sz="2200" b="1" dirty="0">
                <a:solidFill>
                  <a:srgbClr val="F5A524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man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2103120" y="109728"/>
            <a:ext cx="7955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Economía de una orden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2103120" y="457200"/>
            <a:ext cx="7955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0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Visión del administrador: ¿cuánto deja cada trabajo y cuánto podemos gastar para conseguir un cliente?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8778240" y="274320"/>
            <a:ext cx="3154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F99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Empresarial y Fundamentos de Emprendimiento · URL</a:t>
            </a:r>
            <a:endParaRPr lang="en-US" sz="9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60350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18288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Trabajo promedio (precio acordado)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b="1" dirty="0">
                          <a:solidFill>
                            <a:srgbClr val="0B1020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1,000.00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Comisión Handyman (10 %)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100.00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Tarifa de servicio y garantía (cliente)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12733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15.00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Pasarela (4.5 % si paga con tarjeta, 70 % de los casos)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31.97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0B102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Fondo de garantía (2 % del trabajo)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300" dirty="0">
                          <a:solidFill>
                            <a:srgbClr val="B3261E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– Q 20.00</a:t>
                      </a:r>
                      <a:endParaRPr lang="en-US" sz="13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Margen de contribución por orden</a:t>
                      </a:r>
                      <a:endParaRPr lang="en-US" sz="14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600" b="1" dirty="0">
                          <a:solidFill>
                            <a:srgbClr val="F5A524"/>
                          </a:solidFill>
                          <a:latin typeface="Poppins" pitchFamily="34" charset="0"/>
                          <a:ea typeface="Poppins" pitchFamily="34" charset="-122"/>
                          <a:cs typeface="Poppins" pitchFamily="34" charset="-120"/>
                        </a:rPr>
                        <a:t>Q 63.03</a:t>
                      </a:r>
                      <a:endParaRPr lang="en-US" sz="1600" dirty="0">
                        <a:latin typeface="Poppins" charset="0"/>
                        <a:ea typeface="Poppins" charset="0"/>
                        <a:cs typeface="Poppins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CBD2E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020"/>
                    </a:solidFill>
                  </a:tcPr>
                </a:tc>
              </a:tr>
            </a:tbl>
          </a:graphicData>
        </a:graphic>
      </p:graphicFrame>
      <p:sp>
        <p:nvSpPr>
          <p:cNvPr id="8" name="Shape 5"/>
          <p:cNvSpPr/>
          <p:nvPr/>
        </p:nvSpPr>
        <p:spPr>
          <a:xfrm>
            <a:off x="7040880" y="123444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178040" y="123444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Q 63</a:t>
            </a:r>
            <a:endParaRPr lang="en-US" sz="2400" dirty="0"/>
          </a:p>
        </p:txBody>
      </p:sp>
      <p:sp>
        <p:nvSpPr>
          <p:cNvPr id="10" name="Text 7"/>
          <p:cNvSpPr/>
          <p:nvPr/>
        </p:nvSpPr>
        <p:spPr>
          <a:xfrm>
            <a:off x="8915400" y="123444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margen por orden</a:t>
            </a:r>
            <a:endParaRPr lang="en-US" sz="1200" dirty="0"/>
          </a:p>
        </p:txBody>
      </p:sp>
      <p:sp>
        <p:nvSpPr>
          <p:cNvPr id="11" name="Shape 8"/>
          <p:cNvSpPr/>
          <p:nvPr/>
        </p:nvSpPr>
        <p:spPr>
          <a:xfrm>
            <a:off x="7040880" y="233172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178040" y="233172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&lt; Q 50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8915400" y="233172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costo máximo para conseguir un cliente (CAC)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7040880" y="342900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EDF1FD"/>
          </a:solidFill>
          <a:ln w="12700">
            <a:solidFill>
              <a:srgbClr val="EDF1FD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7178040" y="342900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1 orden</a:t>
            </a:r>
            <a:endParaRPr lang="en-US" sz="2400" dirty="0"/>
          </a:p>
        </p:txBody>
      </p:sp>
      <p:sp>
        <p:nvSpPr>
          <p:cNvPr id="16" name="Text 13"/>
          <p:cNvSpPr/>
          <p:nvPr/>
        </p:nvSpPr>
        <p:spPr>
          <a:xfrm>
            <a:off x="8915400" y="342900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 el CAC: el 76.2 % contrata solo 1 o 2 trabajos al año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7040880" y="4526280"/>
            <a:ext cx="4572000" cy="914400"/>
          </a:xfrm>
          <a:prstGeom prst="roundRect">
            <a:avLst>
              <a:gd name="adj" fmla="val 12000"/>
            </a:avLst>
          </a:prstGeom>
          <a:solidFill>
            <a:srgbClr val="F5A524"/>
          </a:solidFill>
          <a:ln w="12700">
            <a:solidFill>
              <a:srgbClr val="F5A524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7178040" y="4526280"/>
            <a:ext cx="1737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B1020"/>
                </a:solidFill>
                <a:latin typeface="Poppins" pitchFamily="34" charset="0"/>
                <a:ea typeface="Poppins" pitchFamily="34" charset="-122"/>
                <a:cs typeface="Poppins" pitchFamily="34" charset="-120"/>
              </a:rPr>
              <a:t>≈ 75</a:t>
            </a:r>
            <a:endParaRPr lang="en-US" sz="2400" dirty="0"/>
          </a:p>
        </p:txBody>
      </p:sp>
      <p:sp>
        <p:nvSpPr>
          <p:cNvPr id="19" name="Text 16"/>
          <p:cNvSpPr/>
          <p:nvPr/>
        </p:nvSpPr>
        <p:spPr>
          <a:xfrm>
            <a:off x="8915400" y="4526280"/>
            <a:ext cx="26060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0B10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trabajos al mes para cubrir Q 4,700 de costos fijos (punto de equilibrio)</a:t>
            </a:r>
            <a:endParaRPr lang="en-US" sz="1200" dirty="0"/>
          </a:p>
        </p:txBody>
      </p:sp>
      <p:sp>
        <p:nvSpPr>
          <p:cNvPr id="20" name="Text 17"/>
          <p:cNvSpPr/>
          <p:nvPr/>
        </p:nvSpPr>
        <p:spPr>
          <a:xfrm>
            <a:off x="548640" y="4572000"/>
            <a:ext cx="60350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34C6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Supuestos del piloto (a validar): trabajo promedio de Q 1,000, porque el 47.6 % de la encuesta pagó entre Q 500 y Q 1,500 por su último trabajo; comisión de 10 %, porque el 61.9 % no pagaría más de 10 % extra; costos fijos de Q 4,700 al mes (agente a medio tiempo con salario mínimo 2026, plataforma, marketing y contabilidad), porque la oficina la aporta Artefacto Creativo; pasarela de 4.5 % solo con tarjeta, porque la transferencia no tiene costo. Las emergencias suman Q 37.50 por visita.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548640" y="630936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6B748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Pagos simulados en el MVP académico; las cifras son hipótesis para la validación.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Artefacto Creativo, S.A.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Lean Canvas · Handyman</dc:title>
  <dc:subject>PptxGenJS Presentation</dc:subject>
  <dc:creator>PptxGenJS</dc:creator>
  <cp:lastModifiedBy>PptxGenJS</cp:lastModifiedBy>
  <cp:revision>1</cp:revision>
  <dcterms:created xsi:type="dcterms:W3CDTF">2026-10-28T01:34:25Z</dcterms:created>
  <dcterms:modified xsi:type="dcterms:W3CDTF">2026-10-28T01:34:25Z</dcterms:modified>
</cp:coreProperties>
</file>