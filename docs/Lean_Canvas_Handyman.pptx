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22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103120" y="109728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03120" y="457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que conecta hogares con profesionales verificados del mantenimiento · Ciudad de Guatemala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778240" y="27432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URL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2328611" cy="425196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" y="1371600"/>
            <a:ext cx="2182307" cy="22402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Inseguridad: abrir la casa a un desconocido sin saber quién es ni si tiene antecedentes.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a ciegas: no sé cuánto debería costar; aparecen cobros extra a mitad del trabajo.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queda mal, no hay a quién reclamar: el técnico no vuelve y no hay garantía. En una emergencia (fuga, corto), no encuentro a nadie rápido.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3657600"/>
            <a:ext cx="2145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ALTERNATIVAS HOY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47472" y="3867912"/>
            <a:ext cx="2182307" cy="13258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Boca a boca y grupos de WhatsApp del condominio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 maestro de siempre” (si está disponible)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de Facebook y anuncios en postes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de instalación de tiendas (caros y limitados)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2931" y="96012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4371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4371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4411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76083" y="1371600"/>
            <a:ext cx="2182307" cy="16687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 con identidad y antecedentes verificados; carné con QR que el cliente escanea al llegar.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Cotizaciones comparables, precio y alcance congelados y pago retenido hasta aprobar con fotos.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escrita (30–90 días), soporte con agente y mediación, y botón de emergencia.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602931" y="308610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4371" y="317754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94371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014411" y="315925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 CLAVE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676083" y="3497580"/>
            <a:ext cx="2182307" cy="16687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con 1.ª cotización en &lt; 4 h (liquidez)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solicitud → orden (meta ≥ 35 %)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Recompra a 90 días (meta ≥ 30 %)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Reclamos &lt; 5 % de órdenes; 90 % resueltos en plazo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Llegada en emergencias &lt; 60 min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&lt; Q 65 (se recupera en 2 órdenes)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931542" y="960120"/>
            <a:ext cx="2328611" cy="425196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2982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2982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43022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ÚNICA DE VALOR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68702" y="1463040"/>
            <a:ext cx="2054291" cy="146304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32710" y="1508760"/>
            <a:ext cx="192627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“Profesionales verificados en tu casa, con precio acordado antes de empezar y garantía por escrito.”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41270" y="3017520"/>
            <a:ext cx="2109155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quién entra (QR), cuánto vas a pagar (cotización congelada) y a quién acudir si algo falla (agente y garantía). Tu dinero se libera solo cuando apruebas el trabajo.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41270" y="4343400"/>
            <a:ext cx="21091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Concepto: “la tranquilidad de un maestro de confianza, con respaldo de una empresa”.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260153" y="96012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51593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51593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671633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VENTAJA ESPECIAL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33305" y="1371600"/>
            <a:ext cx="2182307" cy="134874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local de profesionales verificados con historial de reseñas y garantías cumplidas (efecto de red por zona).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propios de precios reales por oficio y zona.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de Artefacto Creativo, S.A.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369881" y="2702052"/>
            <a:ext cx="210915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está en construcción: se vuelve defendible con volumen.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260153" y="308610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51593" y="317754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51593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671633" y="315925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CANALES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333305" y="3497580"/>
            <a:ext cx="2182307" cy="16687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Alianzas con administraciones de condominios y edificios (QR en áreas comunes, comunicado a residentes).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Búsqueda y Maps (“plomero zona 10”) y Meta Ads por zona.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Referidos: Q 50 de crédito por recomendar. WhatsApp Business.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Profesionales: INTECAP, ferreterías y distribuidoras de materiales.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9588764" y="960120"/>
            <a:ext cx="2328611" cy="425196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680204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80204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000244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SEGMENTO DE CLIENTES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661916" y="1371600"/>
            <a:ext cx="2182307" cy="22402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hogares de nivel medio y medio-alto de la Ciudad de Guatemala (zonas 10, 14, 15, 16 y Carretera a El Salvador), decisores de 30 a 60 años con poco tiempo.</a:t>
            </a:r>
            <a:endParaRPr lang="en-US" sz="90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Profesionales: técnicos independientes con experiencia (plomería, electricidad, cerrajería…) que buscan clientes formales.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698492" y="3657600"/>
            <a:ext cx="2145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EARLY ADOPTERS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661916" y="3867912"/>
            <a:ext cx="2182307" cy="13258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Residentes de condominios y apartamentos recién mudados, sin “su maestro”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de 45–60 años que ya vivieron una mala experiencia con un técnico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 de condominios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74320" y="5285232"/>
            <a:ext cx="5821528" cy="1389888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376672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376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85800" y="5358384"/>
            <a:ext cx="5364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COSTOS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11480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Fijos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365760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hosting, base de datos, dominio, mensajería (SMS/WhatsApp)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soporte y verificación (1–2 agentes)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Legal: constitución, términos, protección de datos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230804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185084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 (≈ 4 % por transacción)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y adquisición (CAC)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penales y policíacos por profesional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garantía: 2 % de cada orden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095848" y="5285232"/>
            <a:ext cx="5821528" cy="1389888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87288" y="5376672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87288" y="5376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507328" y="5358384"/>
            <a:ext cx="5364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FLUJO DE INGRESOS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33008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Desde el lanzamiento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6187288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del 12 % al profesional por trabajo pagado en la plataforma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servicio y garantía al cliente: Q 15 por orden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Emergencias: visita a Q 150 fijo (25 % para Handyman)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9052331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Después (6+ meses)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9006611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“Profesional destacado”: Q 199 al mes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Membresía hogar con mantenimiento preventivo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con condominios y oficinas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274320" y="6675120"/>
            <a:ext cx="1164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llenado sugerido: 1 Problema → 2 Clientes → 3 Propuesta → 4 Solución → 5 Canales → 6 Ingresos → 7 Costos → 8 Métricas → 9 Ventaja. Horizonte: próximos 3 a 6 meses.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22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103120" y="109728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bloque es una hipótesis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03120" y="457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“Creemos que…” → cómo lo probamos → qué número lo confirma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778240" y="27432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URL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1145743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566160"/>
                <a:gridCol w="3749040"/>
                <a:gridCol w="2907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Bloque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Creemos que…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Cómo lo probamos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Criterio de éxito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Problema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la mayor barrera para contratar un técnico es la desconfianza, más que el precio.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Validado en parte: 4 de 4 entrevistados valoraron la confianza, el perfil y la garantía. Ampliar a 20 entrevistas en condominios.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70 % menciona seguridad o garantía entre sus 2 principales preocupaciones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Clientes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los residentes de condominios de zonas 10 a 16 son los primeros en adoptar.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con 2 administraciones de condominio: QR en áreas comunes y comunicado a residentes.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8 % de los hogares del condominio publica una solicitud en 30 días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Propuesta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“precio acordado + garantía escrita” convence más que “el más barato”.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A/B de anuncios en Meta: mensaje de garantía vs. mensaje de precio.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mensaje de garantía logra ≥ 30 % más clics a solicitud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Solución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el QR al llegar y el pago retenido reducen el miedo a abrir la puerta.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 corta al cerrar cada orden del piloto.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80 % dice sentirse “más seguro que con un técnico recomendado”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el cliente acepta pagar Q 15 por la garantía y el profesional ceder 12 %.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Cobrar desde la primera orden del piloto y medir abandono en el pago.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Abandono en el pago &lt; 15 %; ≥ 70 % de profesionales sigue activo al 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Canales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los condominios y Google (búsqueda por zona) traen clientes más baratos que redes sociales.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Asignar el mismo presupuesto (Q 1,500) a cada canal durante 4 semanas.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ganador con CAC &lt; Q 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Emergencias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una visita a precio fijo con llegada en menos de 1 hora resuelve la urgencia.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Activar emergencias de plomería y electricidad en 3 zonas, con 6 profesionales “disponibles ahora”.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80 % de emergencias con profesional asignado en &lt; 15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626364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del piloto (3 a 6 meses): reemplazar estas suposiciones por hechos validados con clientes reales antes de invertir en expansión.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22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103120" y="109728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Economía de una orden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03120" y="457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del administrador: ¿cuánto deja cada trabajo y cuánto podemos gastar para conseguir un cliente?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778240" y="27432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URL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828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Trabajo promedio (precio acordado)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450.00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Comisión Handyman (12 %)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54.00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de servicio y garantía (cliente)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15.00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Pasarela de pago (≈ 4 % de Q 465)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Q 18.60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 de garantía (2 % del trabajo)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Q 9.00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de contribución por orden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5A5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41.40</a:t>
                      </a:r>
                      <a:endParaRPr lang="en-US" sz="16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040880" y="123444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78040" y="12344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41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915400" y="12344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por orden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040880" y="233172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78040" y="233172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Q 65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15400" y="233172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máximo para conseguir un cliente (CAC)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342900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78040" y="34290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≥ 2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915400" y="34290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por cliente al año para recuperar el CAC con ganancia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040880" y="452628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78040" y="45262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290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15400" y="45262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al mes para cubrir Q 12,000 de costos fijos del piloto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457200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del piloto (a validar): trabajo promedio Q 450 según precios típicos de los oficios en la ciudad; costos fijos de Q 12,000 al mes (1 agente de soporte, plataforma y marketing base). Las emergencias suman Q 37.50 por visita.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simulados en el MVP académico; las cifras son hipótesis para la validación.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Artefacto Creativo,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Lean Canvas · Handyman</dc:title>
  <dc:subject>PptxGenJS Presentation</dc:subject>
  <dc:creator>PptxGenJS</dc:creator>
  <cp:lastModifiedBy>PptxGenJS</cp:lastModifiedBy>
  <cp:revision>1</cp:revision>
  <dcterms:created xsi:type="dcterms:W3CDTF">2026-10-27T02:05:05Z</dcterms:created>
  <dcterms:modified xsi:type="dcterms:W3CDTF">2026-10-27T02:05:05Z</dcterms:modified>
</cp:coreProperties>
</file>